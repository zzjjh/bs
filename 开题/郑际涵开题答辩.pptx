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308" r:id="rId3"/>
    <p:sldId id="324" r:id="rId4"/>
    <p:sldId id="327" r:id="rId5"/>
    <p:sldId id="325" r:id="rId6"/>
    <p:sldId id="309" r:id="rId7"/>
    <p:sldId id="310" r:id="rId8"/>
    <p:sldId id="311" r:id="rId9"/>
    <p:sldId id="319" r:id="rId10"/>
    <p:sldId id="320" r:id="rId11"/>
    <p:sldId id="321" r:id="rId12"/>
    <p:sldId id="318" r:id="rId13"/>
    <p:sldId id="29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161645"/>
    <a:srgbClr val="0072BD"/>
    <a:srgbClr val="D95319"/>
    <a:srgbClr val="EDB120"/>
    <a:srgbClr val="00B050"/>
    <a:srgbClr val="0466A6"/>
    <a:srgbClr val="DD632F"/>
    <a:srgbClr val="F1C355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29" autoAdjust="0"/>
    <p:restoredTop sz="96046" autoAdjust="0"/>
  </p:normalViewPr>
  <p:slideViewPr>
    <p:cSldViewPr snapToGrid="0">
      <p:cViewPr varScale="1">
        <p:scale>
          <a:sx n="111" d="100"/>
          <a:sy n="111" d="100"/>
        </p:scale>
        <p:origin x="12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4DBA68-71AD-4D07-86FA-1CB6A75901A3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531425-7FA6-4950-9476-000EA0BA04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444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534D4-03B0-4F0A-9488-A16014F262B7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752DB-8271-48F2-B5B6-5A902616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27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2984500" y="887413"/>
            <a:ext cx="4265613" cy="2400300"/>
          </a:xfrm>
          <a:ln/>
        </p:spPr>
      </p:sp>
      <p:sp>
        <p:nvSpPr>
          <p:cNvPr id="8195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1225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2984500" y="887413"/>
            <a:ext cx="4265613" cy="2400300"/>
          </a:xfrm>
          <a:ln/>
        </p:spPr>
      </p:sp>
      <p:sp>
        <p:nvSpPr>
          <p:cNvPr id="8195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0652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70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52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56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09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88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365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89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43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6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39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849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ChangeArrowheads="1"/>
          </p:cNvSpPr>
          <p:nvPr userDrawn="1"/>
        </p:nvSpPr>
        <p:spPr bwMode="auto">
          <a:xfrm>
            <a:off x="10871200" y="6395086"/>
            <a:ext cx="132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27BE7942-F14F-437C-A87C-78709207A8C5}" type="slidenum">
              <a:rPr lang="en-US" altLang="ja-JP" sz="1920" smtClean="0">
                <a:ea typeface="MS PGothic" panose="020B0600070205080204" pitchFamily="34" charset="-128"/>
              </a:rPr>
              <a:pPr algn="r" eaLnBrk="1" hangingPunct="1">
                <a:defRPr/>
              </a:pPr>
              <a:t>‹#›</a:t>
            </a:fld>
            <a:endParaRPr lang="en-US" altLang="ja-JP" sz="1920">
              <a:ea typeface="MS PGothic" panose="020B0600070205080204" pitchFamily="34" charset="-128"/>
            </a:endParaRPr>
          </a:p>
        </p:txBody>
      </p:sp>
      <p:sp>
        <p:nvSpPr>
          <p:cNvPr id="4" name="Rectangle 7"/>
          <p:cNvSpPr>
            <a:spLocks noChangeArrowheads="1"/>
          </p:cNvSpPr>
          <p:nvPr userDrawn="1"/>
        </p:nvSpPr>
        <p:spPr bwMode="auto">
          <a:xfrm flipV="1">
            <a:off x="0" y="1002849"/>
            <a:ext cx="12192000" cy="360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rgbClr val="FF8200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rot="10800000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160" b="1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964" y="56879"/>
            <a:ext cx="9361040" cy="902531"/>
          </a:xfrm>
        </p:spPr>
        <p:txBody>
          <a:bodyPr>
            <a:normAutofit/>
          </a:bodyPr>
          <a:lstStyle>
            <a:lvl1pPr>
              <a:defRPr sz="3600" b="1" baseline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ja-JP" altLang="en-US" dirty="0"/>
          </a:p>
        </p:txBody>
      </p:sp>
      <p:pic>
        <p:nvPicPr>
          <p:cNvPr id="5" name="Picture 1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2262" y="88394"/>
            <a:ext cx="2635774" cy="7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9608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5C110-125C-42AF-BBB8-22EA79B0B9B6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CECCE-FF12-4AFC-AC88-7F03A6450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868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ChangeArrowheads="1"/>
          </p:cNvSpPr>
          <p:nvPr/>
        </p:nvSpPr>
        <p:spPr bwMode="auto">
          <a:xfrm>
            <a:off x="609600" y="6010276"/>
            <a:ext cx="10972800" cy="40004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rgbClr val="FF82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880" b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78" y="1745615"/>
            <a:ext cx="12049327" cy="2183130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zh-CN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工效学监测的远程跨平台多模态可穿戴系统开发</a:t>
            </a:r>
            <a:endParaRPr lang="en-US" altLang="zh-CN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 flipV="1">
            <a:off x="609600" y="1312546"/>
            <a:ext cx="10972800" cy="40004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rgbClr val="FF82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880" b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7174" name="Picture 13" descr="深大标牌副本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0"/>
            <a:ext cx="10967086" cy="1318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9"/>
          <p:cNvSpPr txBox="1">
            <a:spLocks noChangeArrowheads="1"/>
          </p:cNvSpPr>
          <p:nvPr/>
        </p:nvSpPr>
        <p:spPr>
          <a:xfrm>
            <a:off x="609600" y="5718811"/>
            <a:ext cx="10972800" cy="1352550"/>
          </a:xfrm>
        </p:spPr>
        <p:txBody>
          <a:bodyPr>
            <a:norm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None/>
              <a:defRPr kumimoji="1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3429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685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3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0287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17145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2057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24003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7000"/>
              </a:spcBef>
              <a:defRPr/>
            </a:pPr>
            <a:endParaRPr lang="zh-CN" altLang="en-US" sz="216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文本框 17">
            <a:extLst>
              <a:ext uri="{FF2B5EF4-FFF2-40B4-BE49-F238E27FC236}">
                <a16:creationId xmlns:a16="http://schemas.microsoft.com/office/drawing/2014/main" id="{60A45B0E-74FA-46F9-84B8-77D6C339EEA9}"/>
              </a:ext>
            </a:extLst>
          </p:cNvPr>
          <p:cNvSpPr txBox="1"/>
          <p:nvPr/>
        </p:nvSpPr>
        <p:spPr>
          <a:xfrm>
            <a:off x="4459843" y="3928745"/>
            <a:ext cx="3266599" cy="1470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2100" b="1" dirty="0">
                <a:latin typeface="黑体" panose="02010609060101010101" pitchFamily="49" charset="-122"/>
                <a:ea typeface="黑体" panose="02010609060101010101" pitchFamily="49" charset="-122"/>
              </a:rPr>
              <a:t>答辩人：郑际涵</a:t>
            </a:r>
          </a:p>
          <a:p>
            <a:pPr algn="l">
              <a:lnSpc>
                <a:spcPct val="150000"/>
              </a:lnSpc>
            </a:pPr>
            <a:r>
              <a:rPr lang="zh-CN" altLang="en-US" sz="2100" b="1" dirty="0">
                <a:latin typeface="黑体" panose="02010609060101010101" pitchFamily="49" charset="-122"/>
                <a:ea typeface="黑体" panose="02010609060101010101" pitchFamily="49" charset="-122"/>
              </a:rPr>
              <a:t>导</a:t>
            </a:r>
            <a:r>
              <a:rPr lang="en-US" altLang="zh-CN" sz="21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100" b="1" dirty="0">
                <a:latin typeface="黑体" panose="02010609060101010101" pitchFamily="49" charset="-122"/>
                <a:ea typeface="黑体" panose="02010609060101010101" pitchFamily="49" charset="-122"/>
              </a:rPr>
              <a:t>师：胡新尧</a:t>
            </a:r>
            <a:endParaRPr lang="en-US" altLang="zh-CN" sz="21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100" b="1" dirty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en-US" altLang="zh-CN" sz="21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100" b="1" dirty="0">
                <a:latin typeface="黑体" panose="02010609060101010101" pitchFamily="49" charset="-122"/>
                <a:ea typeface="黑体" panose="02010609060101010101" pitchFamily="49" charset="-122"/>
              </a:rPr>
              <a:t>间：</a:t>
            </a:r>
            <a:r>
              <a:rPr lang="en-US" altLang="zh-CN" sz="2100" b="1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2100" b="1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1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100" b="1" dirty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4061984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5A1FC-704B-B3A2-2202-64B4C8489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5" name="文本框 3">
            <a:extLst>
              <a:ext uri="{FF2B5EF4-FFF2-40B4-BE49-F238E27FC236}">
                <a16:creationId xmlns:a16="http://schemas.microsoft.com/office/drawing/2014/main" id="{781129B2-2D2B-45B3-9499-DDBD8BB215EB}"/>
              </a:ext>
            </a:extLst>
          </p:cNvPr>
          <p:cNvSpPr txBox="1"/>
          <p:nvPr/>
        </p:nvSpPr>
        <p:spPr>
          <a:xfrm>
            <a:off x="685020" y="1285537"/>
            <a:ext cx="5410980" cy="32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研究背景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indent="-7429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研究内容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indent="-7429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课题进展</a:t>
            </a:r>
          </a:p>
          <a:p>
            <a:pPr marL="742950" indent="-7429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课题后续计划</a:t>
            </a:r>
          </a:p>
        </p:txBody>
      </p:sp>
    </p:spTree>
    <p:extLst>
      <p:ext uri="{BB962C8B-B14F-4D97-AF65-F5344CB8AC3E}">
        <p14:creationId xmlns:p14="http://schemas.microsoft.com/office/powerpoint/2010/main" val="113541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F1ABDBB-555E-442E-AC9F-95186EE23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550FA9F-C11B-7B41-07E0-9E2FD33C8968}"/>
              </a:ext>
            </a:extLst>
          </p:cNvPr>
          <p:cNvGrpSpPr/>
          <p:nvPr/>
        </p:nvGrpSpPr>
        <p:grpSpPr>
          <a:xfrm>
            <a:off x="488463" y="1305518"/>
            <a:ext cx="4681738" cy="3957990"/>
            <a:chOff x="1305765" y="1557204"/>
            <a:chExt cx="4681738" cy="3957990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5F0196D-4087-4EC1-B353-3FA8AF2878E0}"/>
                </a:ext>
              </a:extLst>
            </p:cNvPr>
            <p:cNvSpPr txBox="1"/>
            <p:nvPr/>
          </p:nvSpPr>
          <p:spPr>
            <a:xfrm>
              <a:off x="2108026" y="4868863"/>
              <a:ext cx="31438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WMSD</a:t>
              </a:r>
              <a:r>
                <a:rPr lang="zh-CN" altLang="en-US" dirty="0">
                  <a:latin typeface="+mn-ea"/>
                </a:rPr>
                <a:t>发生区域的解剖学分类</a:t>
              </a:r>
              <a:endParaRPr lang="en-US" altLang="zh-CN" dirty="0">
                <a:latin typeface="+mn-ea"/>
              </a:endParaRPr>
            </a:p>
            <a:p>
              <a:pPr algn="ctr"/>
              <a:r>
                <a:rPr lang="en-US" altLang="zh-CN" dirty="0"/>
                <a:t>(Sanura </a:t>
              </a:r>
              <a:r>
                <a:rPr lang="en-US" altLang="zh-CN" sz="1800" dirty="0"/>
                <a:t>et al., 2024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3DF4ADB-62B2-F481-9BCB-8E8116D13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5765" y="1557204"/>
              <a:ext cx="4681738" cy="3311659"/>
            </a:xfrm>
            <a:prstGeom prst="rect">
              <a:avLst/>
            </a:prstGeom>
            <a:ln w="19050">
              <a:solidFill>
                <a:schemeClr val="tx1"/>
              </a:solidFill>
              <a:prstDash val="sysDot"/>
            </a:ln>
          </p:spPr>
        </p:pic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9C0F893-440A-DB9D-CB00-CC5838F38900}"/>
              </a:ext>
            </a:extLst>
          </p:cNvPr>
          <p:cNvSpPr txBox="1"/>
          <p:nvPr/>
        </p:nvSpPr>
        <p:spPr>
          <a:xfrm>
            <a:off x="1200478" y="5424951"/>
            <a:ext cx="375545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alibri" panose="020F0502020204030204" pitchFamily="34" charset="0"/>
              </a:rPr>
              <a:t>(a) </a:t>
            </a:r>
            <a:r>
              <a:rPr lang="zh-CN" altLang="en-US" sz="1600" dirty="0">
                <a:latin typeface="Calibri" panose="020F0502020204030204" pitchFamily="34" charset="0"/>
              </a:rPr>
              <a:t>车间装配 </a:t>
            </a:r>
            <a:r>
              <a:rPr lang="en-US" altLang="zh-CN" sz="1600" dirty="0">
                <a:latin typeface="Calibri" panose="020F0502020204030204" pitchFamily="34" charset="0"/>
              </a:rPr>
              <a:t>(</a:t>
            </a:r>
            <a:r>
              <a:rPr lang="en-US" altLang="zh-CN" sz="1600" dirty="0" err="1">
                <a:latin typeface="Calibri" panose="020F0502020204030204" pitchFamily="34" charset="0"/>
              </a:rPr>
              <a:t>llaria</a:t>
            </a:r>
            <a:r>
              <a:rPr lang="en-US" altLang="zh-CN" sz="1600" dirty="0">
                <a:latin typeface="Calibri" panose="020F0502020204030204" pitchFamily="34" charset="0"/>
              </a:rPr>
              <a:t> et al., 2020)</a:t>
            </a:r>
            <a:r>
              <a:rPr lang="zh-CN" altLang="en-US" sz="1600" dirty="0">
                <a:latin typeface="Calibri" panose="020F0502020204030204" pitchFamily="34" charset="0"/>
              </a:rPr>
              <a:t> </a:t>
            </a:r>
            <a:endParaRPr lang="en-US" altLang="zh-CN" sz="1600" dirty="0">
              <a:latin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</a:rPr>
              <a:t>(b) </a:t>
            </a:r>
            <a:r>
              <a:rPr lang="zh-CN" altLang="en-US" sz="1600" dirty="0">
                <a:latin typeface="Calibri" panose="020F0502020204030204" pitchFamily="34" charset="0"/>
              </a:rPr>
              <a:t>重物搬运 </a:t>
            </a:r>
            <a:r>
              <a:rPr lang="en-US" altLang="zh-CN" sz="1600" dirty="0">
                <a:latin typeface="Calibri" panose="020F0502020204030204" pitchFamily="34" charset="0"/>
              </a:rPr>
              <a:t>(Tommaso et al., 2020)</a:t>
            </a:r>
            <a:r>
              <a:rPr lang="zh-CN" altLang="en-US" sz="1600" dirty="0">
                <a:latin typeface="Calibri" panose="020F0502020204030204" pitchFamily="34" charset="0"/>
              </a:rPr>
              <a:t> </a:t>
            </a:r>
            <a:endParaRPr lang="en-US" altLang="zh-CN" sz="1600" dirty="0">
              <a:latin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</a:rPr>
              <a:t>(c) </a:t>
            </a:r>
            <a:r>
              <a:rPr lang="zh-CN" altLang="en-US" sz="1600" dirty="0">
                <a:latin typeface="Calibri" panose="020F0502020204030204" pitchFamily="34" charset="0"/>
              </a:rPr>
              <a:t>公交车司机 </a:t>
            </a:r>
            <a:r>
              <a:rPr lang="en-US" altLang="zh-CN" sz="1600" dirty="0">
                <a:latin typeface="Calibri" panose="020F0502020204030204" pitchFamily="34" charset="0"/>
              </a:rPr>
              <a:t>(Olanrewaju O et al., 2004)</a:t>
            </a:r>
          </a:p>
          <a:p>
            <a:r>
              <a:rPr lang="en-US" altLang="zh-CN" sz="1600" dirty="0">
                <a:latin typeface="Calibri" panose="020F0502020204030204" pitchFamily="34" charset="0"/>
              </a:rPr>
              <a:t>(d) </a:t>
            </a:r>
            <a:r>
              <a:rPr lang="zh-CN" altLang="en-US" sz="1600" dirty="0">
                <a:latin typeface="Calibri" panose="020F0502020204030204" pitchFamily="34" charset="0"/>
              </a:rPr>
              <a:t>订单分拣员 </a:t>
            </a:r>
            <a:r>
              <a:rPr lang="en-US" altLang="zh-CN" sz="1600" dirty="0">
                <a:latin typeface="Calibri" panose="020F0502020204030204" pitchFamily="34" charset="0"/>
              </a:rPr>
              <a:t>(Sandra M et al., 2021)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C9872D4-64C5-B9C1-6428-C1EA9B1BC203}"/>
              </a:ext>
            </a:extLst>
          </p:cNvPr>
          <p:cNvGrpSpPr/>
          <p:nvPr/>
        </p:nvGrpSpPr>
        <p:grpSpPr>
          <a:xfrm>
            <a:off x="5443143" y="1136369"/>
            <a:ext cx="5930095" cy="5110259"/>
            <a:chOff x="5572539" y="1222633"/>
            <a:chExt cx="5930095" cy="5110259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62CB3528-25E0-870A-F853-60B67A3C37F7}"/>
                </a:ext>
              </a:extLst>
            </p:cNvPr>
            <p:cNvGrpSpPr/>
            <p:nvPr/>
          </p:nvGrpSpPr>
          <p:grpSpPr>
            <a:xfrm>
              <a:off x="5572539" y="1222633"/>
              <a:ext cx="5930095" cy="4716446"/>
              <a:chOff x="5105611" y="1164267"/>
              <a:chExt cx="5930095" cy="4716446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43751E5D-9788-3ECD-1A68-88C448DAD9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73864" y="1249295"/>
                <a:ext cx="2094255" cy="2513106"/>
              </a:xfrm>
              <a:prstGeom prst="rect">
                <a:avLst/>
              </a:prstGeom>
              <a:ln w="19050">
                <a:solidFill>
                  <a:schemeClr val="tx1"/>
                </a:solidFill>
                <a:prstDash val="sysDot"/>
              </a:ln>
            </p:spPr>
          </p:pic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BAF92302-3236-FFF8-FF3B-8602D5B750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92499" y="1249295"/>
                <a:ext cx="2743207" cy="2515309"/>
              </a:xfrm>
              <a:prstGeom prst="rect">
                <a:avLst/>
              </a:prstGeom>
              <a:ln w="19050">
                <a:solidFill>
                  <a:schemeClr val="tx1"/>
                </a:solidFill>
                <a:prstDash val="sysDot"/>
              </a:ln>
            </p:spPr>
          </p:pic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DBCAC969-3D5D-5DD0-8E2B-2CD16D0864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73864" y="4074546"/>
                <a:ext cx="2319741" cy="1806167"/>
              </a:xfrm>
              <a:prstGeom prst="rect">
                <a:avLst/>
              </a:prstGeom>
              <a:ln w="19050">
                <a:solidFill>
                  <a:schemeClr val="tx1"/>
                </a:solidFill>
                <a:prstDash val="sysDot"/>
              </a:ln>
            </p:spPr>
          </p:pic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3E5F118-C118-A114-49D3-FC4B5A9D4614}"/>
                  </a:ext>
                </a:extLst>
              </p:cNvPr>
              <p:cNvSpPr txBox="1"/>
              <p:nvPr/>
            </p:nvSpPr>
            <p:spPr>
              <a:xfrm>
                <a:off x="5105611" y="1164267"/>
                <a:ext cx="40748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(a)</a:t>
                </a:r>
                <a:endParaRPr lang="zh-CN" altLang="en-US" sz="1600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CEA949B-D145-3628-A3D9-52CBAA6D1234}"/>
                  </a:ext>
                </a:extLst>
              </p:cNvPr>
              <p:cNvSpPr txBox="1"/>
              <p:nvPr/>
            </p:nvSpPr>
            <p:spPr>
              <a:xfrm>
                <a:off x="7875397" y="1164267"/>
                <a:ext cx="4171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(b)</a:t>
                </a:r>
                <a:endParaRPr lang="zh-CN" altLang="en-US" sz="1600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2979AA4-19B5-B1E2-34FC-779FB8645570}"/>
                  </a:ext>
                </a:extLst>
              </p:cNvPr>
              <p:cNvSpPr txBox="1"/>
              <p:nvPr/>
            </p:nvSpPr>
            <p:spPr>
              <a:xfrm>
                <a:off x="5105611" y="3931682"/>
                <a:ext cx="3962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(c)</a:t>
                </a:r>
                <a:endParaRPr lang="zh-CN" altLang="en-US" sz="1600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C08D3DB-0D9B-01D4-2A5D-A3B977AC7147}"/>
                  </a:ext>
                </a:extLst>
              </p:cNvPr>
              <p:cNvSpPr txBox="1"/>
              <p:nvPr/>
            </p:nvSpPr>
            <p:spPr>
              <a:xfrm>
                <a:off x="7875397" y="3931682"/>
                <a:ext cx="4171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(d)</a:t>
                </a:r>
                <a:endParaRPr lang="zh-CN" altLang="en-US" sz="1600" dirty="0"/>
              </a:p>
            </p:txBody>
          </p:sp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B4846557-AE44-1A71-F113-D822F843DB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0" b="28824"/>
              <a:stretch/>
            </p:blipFill>
            <p:spPr>
              <a:xfrm>
                <a:off x="8297039" y="4074546"/>
                <a:ext cx="2666531" cy="1806167"/>
              </a:xfrm>
              <a:prstGeom prst="rect">
                <a:avLst/>
              </a:prstGeom>
              <a:ln w="19050">
                <a:solidFill>
                  <a:schemeClr val="tx1"/>
                </a:solidFill>
                <a:prstDash val="sysDot"/>
              </a:ln>
            </p:spPr>
          </p:pic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DADBD9D-AD83-1833-F1BE-466E70EFA661}"/>
                </a:ext>
              </a:extLst>
            </p:cNvPr>
            <p:cNvSpPr txBox="1"/>
            <p:nvPr/>
          </p:nvSpPr>
          <p:spPr>
            <a:xfrm>
              <a:off x="7535213" y="5963560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各种不良工作姿势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272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F1ABDBB-555E-442E-AC9F-95186EE23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00ECB8B-B557-4924-88B7-0E6A910BF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76" y="2851236"/>
            <a:ext cx="4070000" cy="119746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5231A1D-45C7-4B49-8A57-7C43200266DA}"/>
              </a:ext>
            </a:extLst>
          </p:cNvPr>
          <p:cNvSpPr txBox="1"/>
          <p:nvPr/>
        </p:nvSpPr>
        <p:spPr>
          <a:xfrm>
            <a:off x="7967676" y="2266974"/>
            <a:ext cx="36755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平均电压检测法：平均电压的高低可以反映放电状态，平均电压始终维持在一个区间内即为</a:t>
            </a:r>
            <a:r>
              <a:rPr lang="zh-CN" altLang="en-US" dirty="0">
                <a:solidFill>
                  <a:srgbClr val="FF0000"/>
                </a:solidFill>
              </a:rPr>
              <a:t>火花放电</a:t>
            </a:r>
            <a:r>
              <a:rPr lang="zh-CN" altLang="en-US" dirty="0"/>
              <a:t>，若超出这个区间范围， 即为异常放电状态，平均电压高于区间上限即为</a:t>
            </a:r>
            <a:r>
              <a:rPr lang="zh-CN" altLang="en-US" dirty="0">
                <a:solidFill>
                  <a:srgbClr val="FF0000"/>
                </a:solidFill>
              </a:rPr>
              <a:t>开路</a:t>
            </a:r>
            <a:r>
              <a:rPr lang="zh-CN" altLang="en-US" dirty="0"/>
              <a:t>状态，平均电压低于区间下限即为</a:t>
            </a:r>
            <a:r>
              <a:rPr lang="zh-CN" altLang="en-US" dirty="0">
                <a:solidFill>
                  <a:srgbClr val="FF0000"/>
                </a:solidFill>
              </a:rPr>
              <a:t>短路</a:t>
            </a:r>
            <a:r>
              <a:rPr lang="zh-CN" altLang="en-US" dirty="0"/>
              <a:t>脉冲。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13E3050-EE16-40DA-AA6C-9CD7A1E2D093}"/>
              </a:ext>
            </a:extLst>
          </p:cNvPr>
          <p:cNvGrpSpPr/>
          <p:nvPr/>
        </p:nvGrpSpPr>
        <p:grpSpPr>
          <a:xfrm>
            <a:off x="4845100" y="2851236"/>
            <a:ext cx="2289125" cy="1250798"/>
            <a:chOff x="4845100" y="2851236"/>
            <a:chExt cx="2289125" cy="1250798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B6A0969D-E6B9-4195-A184-656C95326F57}"/>
                </a:ext>
              </a:extLst>
            </p:cNvPr>
            <p:cNvCxnSpPr/>
            <p:nvPr/>
          </p:nvCxnSpPr>
          <p:spPr>
            <a:xfrm>
              <a:off x="5168148" y="4102034"/>
              <a:ext cx="196607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73A4778D-3FB3-46DE-BD74-D54AE6E832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8148" y="2851236"/>
              <a:ext cx="0" cy="12507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415B9D2-7DBA-4A4D-A817-01BAF178BC66}"/>
                </a:ext>
              </a:extLst>
            </p:cNvPr>
            <p:cNvCxnSpPr/>
            <p:nvPr/>
          </p:nvCxnSpPr>
          <p:spPr>
            <a:xfrm>
              <a:off x="5168148" y="3660793"/>
              <a:ext cx="178829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C935968-6A3C-4525-83E6-270A6F146712}"/>
                </a:ext>
              </a:extLst>
            </p:cNvPr>
            <p:cNvCxnSpPr/>
            <p:nvPr/>
          </p:nvCxnSpPr>
          <p:spPr>
            <a:xfrm>
              <a:off x="5168148" y="3282579"/>
              <a:ext cx="178829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8187067-34A4-43AF-A7BE-D8CEFE694303}"/>
                </a:ext>
              </a:extLst>
            </p:cNvPr>
            <p:cNvSpPr txBox="1"/>
            <p:nvPr/>
          </p:nvSpPr>
          <p:spPr>
            <a:xfrm>
              <a:off x="5450772" y="3328799"/>
              <a:ext cx="1148331" cy="3448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火花放电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B0FF5A0-9BE9-4A07-9F85-EDAC00CA3D0A}"/>
                </a:ext>
              </a:extLst>
            </p:cNvPr>
            <p:cNvSpPr txBox="1"/>
            <p:nvPr/>
          </p:nvSpPr>
          <p:spPr>
            <a:xfrm>
              <a:off x="5450773" y="2883337"/>
              <a:ext cx="1001340" cy="326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开路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081B52D-CBFC-486B-ABDC-06165ED14685}"/>
                </a:ext>
              </a:extLst>
            </p:cNvPr>
            <p:cNvSpPr txBox="1"/>
            <p:nvPr/>
          </p:nvSpPr>
          <p:spPr>
            <a:xfrm>
              <a:off x="5450773" y="3755342"/>
              <a:ext cx="1001340" cy="326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短路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5125A8D-58C0-4E11-A94D-7CE81A55111A}"/>
                </a:ext>
              </a:extLst>
            </p:cNvPr>
            <p:cNvSpPr txBox="1"/>
            <p:nvPr/>
          </p:nvSpPr>
          <p:spPr>
            <a:xfrm>
              <a:off x="4845100" y="2883336"/>
              <a:ext cx="278380" cy="326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V</a:t>
              </a:r>
              <a:endParaRPr lang="zh-CN" altLang="en-US" dirty="0"/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ECD93BE5-0FA1-40EF-A962-A23F03605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685" y="4914194"/>
            <a:ext cx="4629419" cy="135085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F84431B-2272-4D95-B575-DA2CBFAC1B7E}"/>
              </a:ext>
            </a:extLst>
          </p:cNvPr>
          <p:cNvSpPr txBox="1"/>
          <p:nvPr/>
        </p:nvSpPr>
        <p:spPr>
          <a:xfrm>
            <a:off x="7967676" y="4764975"/>
            <a:ext cx="36755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高频分量检测法：通过检测极间电压中高频分量的强弱来识别放电状态，</a:t>
            </a:r>
            <a:r>
              <a:rPr lang="zh-CN" altLang="en-US" dirty="0">
                <a:solidFill>
                  <a:srgbClr val="FF0000"/>
                </a:solidFill>
              </a:rPr>
              <a:t>火花放电</a:t>
            </a:r>
            <a:r>
              <a:rPr lang="zh-CN" altLang="en-US" dirty="0"/>
              <a:t>的维持电压存在</a:t>
            </a:r>
            <a:r>
              <a:rPr lang="zh-CN" altLang="en-US" dirty="0">
                <a:solidFill>
                  <a:srgbClr val="FF0000"/>
                </a:solidFill>
              </a:rPr>
              <a:t>很强</a:t>
            </a:r>
            <a:r>
              <a:rPr lang="zh-CN" altLang="en-US" dirty="0"/>
              <a:t>的高频分量，而</a:t>
            </a:r>
            <a:r>
              <a:rPr lang="zh-CN" altLang="en-US" dirty="0">
                <a:solidFill>
                  <a:srgbClr val="FF0000"/>
                </a:solidFill>
              </a:rPr>
              <a:t>电弧放电</a:t>
            </a:r>
            <a:r>
              <a:rPr lang="zh-CN" altLang="en-US" dirty="0"/>
              <a:t>的维持电压高频分量</a:t>
            </a:r>
            <a:r>
              <a:rPr lang="zh-CN" altLang="en-US" dirty="0">
                <a:solidFill>
                  <a:srgbClr val="FF0000"/>
                </a:solidFill>
              </a:rPr>
              <a:t>较弱</a:t>
            </a:r>
            <a:r>
              <a:rPr lang="zh-CN" altLang="en-US" dirty="0"/>
              <a:t>，开路没有高频分量。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4D77ED0-2D1F-46D3-A831-19C9188B0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777" y="1214275"/>
            <a:ext cx="3675550" cy="1410386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F309C73-A6E4-43BD-A69B-F05E73B49618}"/>
              </a:ext>
            </a:extLst>
          </p:cNvPr>
          <p:cNvSpPr txBox="1"/>
          <p:nvPr/>
        </p:nvSpPr>
        <p:spPr>
          <a:xfrm>
            <a:off x="7967676" y="147941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电火花加工放电状态示意图</a:t>
            </a:r>
          </a:p>
        </p:txBody>
      </p:sp>
    </p:spTree>
    <p:extLst>
      <p:ext uri="{BB962C8B-B14F-4D97-AF65-F5344CB8AC3E}">
        <p14:creationId xmlns:p14="http://schemas.microsoft.com/office/powerpoint/2010/main" val="444791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F1ABDBB-555E-442E-AC9F-95186EE23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45ED18A-0769-4500-8443-BF79143D4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642" y="1253964"/>
            <a:ext cx="3060000" cy="201649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056F37FE-F227-4B1B-A0E7-7E9CDC3F3AA2}"/>
              </a:ext>
            </a:extLst>
          </p:cNvPr>
          <p:cNvSpPr txBox="1"/>
          <p:nvPr/>
        </p:nvSpPr>
        <p:spPr>
          <a:xfrm>
            <a:off x="2057894" y="6091070"/>
            <a:ext cx="1956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Craig</a:t>
            </a:r>
            <a:r>
              <a:rPr lang="en-US" altLang="zh-CN" dirty="0"/>
              <a:t> et al., 2013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638F12-0E0F-4C71-BBAE-A89882985020}"/>
              </a:ext>
            </a:extLst>
          </p:cNvPr>
          <p:cNvSpPr txBox="1"/>
          <p:nvPr/>
        </p:nvSpPr>
        <p:spPr>
          <a:xfrm>
            <a:off x="2026204" y="1067392"/>
            <a:ext cx="407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(a)</a:t>
            </a:r>
            <a:endParaRPr lang="zh-CN" altLang="en-US" sz="1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FF30FF-E280-45B4-8B3A-D26DF86CF5B3}"/>
              </a:ext>
            </a:extLst>
          </p:cNvPr>
          <p:cNvSpPr txBox="1"/>
          <p:nvPr/>
        </p:nvSpPr>
        <p:spPr>
          <a:xfrm>
            <a:off x="2000382" y="5517167"/>
            <a:ext cx="3206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(a)</a:t>
            </a:r>
            <a:r>
              <a:rPr lang="zh-CN" altLang="en-US" dirty="0"/>
              <a:t>电火花加工的声与电流信号</a:t>
            </a:r>
            <a:endParaRPr lang="en-US" altLang="zh-CN" dirty="0"/>
          </a:p>
          <a:p>
            <a:r>
              <a:rPr lang="en-US" altLang="zh-CN" dirty="0"/>
              <a:t>(b)</a:t>
            </a:r>
            <a:r>
              <a:rPr lang="zh-CN" altLang="en-US" dirty="0"/>
              <a:t>电火花加工声信号典型频谱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34EAC1E-8D7D-4170-ABF5-898B31ACD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946" y="1147549"/>
            <a:ext cx="2644288" cy="209433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DBA513D7-3D89-4AFC-91BE-6F49B4F30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468837"/>
            <a:ext cx="2994232" cy="180068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EB757F54-9321-4BBA-ABD4-140DFFEB72C6}"/>
              </a:ext>
            </a:extLst>
          </p:cNvPr>
          <p:cNvSpPr txBox="1"/>
          <p:nvPr/>
        </p:nvSpPr>
        <p:spPr>
          <a:xfrm>
            <a:off x="6415395" y="1115017"/>
            <a:ext cx="396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(c)</a:t>
            </a:r>
            <a:endParaRPr lang="zh-CN" altLang="en-US" sz="16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D9D6378-3389-45F7-8EAA-2E6F142C8C4E}"/>
              </a:ext>
            </a:extLst>
          </p:cNvPr>
          <p:cNvSpPr txBox="1"/>
          <p:nvPr/>
        </p:nvSpPr>
        <p:spPr>
          <a:xfrm>
            <a:off x="6415395" y="3322229"/>
            <a:ext cx="417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(d)</a:t>
            </a:r>
            <a:endParaRPr lang="zh-CN" altLang="en-US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9B79CD5-5A48-408B-AC7C-9C27413FF6F0}"/>
              </a:ext>
            </a:extLst>
          </p:cNvPr>
          <p:cNvSpPr txBox="1"/>
          <p:nvPr/>
        </p:nvSpPr>
        <p:spPr>
          <a:xfrm>
            <a:off x="6419850" y="5517167"/>
            <a:ext cx="3448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(c)</a:t>
            </a:r>
            <a:r>
              <a:rPr lang="zh-CN" altLang="en-US" dirty="0"/>
              <a:t>电火花加工的声与力信号</a:t>
            </a:r>
            <a:endParaRPr lang="en-US" altLang="zh-CN" dirty="0"/>
          </a:p>
          <a:p>
            <a:r>
              <a:rPr lang="en-US" altLang="zh-CN" dirty="0"/>
              <a:t>(d)</a:t>
            </a:r>
            <a:r>
              <a:rPr lang="zh-CN" altLang="en-US" dirty="0"/>
              <a:t>电火花加工气泡的生成与破裂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9ACE738-C67F-40FA-AD31-279EAEB056AA}"/>
              </a:ext>
            </a:extLst>
          </p:cNvPr>
          <p:cNvSpPr txBox="1"/>
          <p:nvPr/>
        </p:nvSpPr>
        <p:spPr>
          <a:xfrm>
            <a:off x="6492573" y="6116793"/>
            <a:ext cx="2358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Andreas </a:t>
            </a:r>
            <a:r>
              <a:rPr lang="en-US" altLang="zh-CN" sz="1600" dirty="0"/>
              <a:t>et al., 2016</a:t>
            </a:r>
            <a:endParaRPr lang="zh-CN" altLang="en-US" sz="16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F139639-8544-4A5B-81B6-AA4A7F5BFE56}"/>
              </a:ext>
            </a:extLst>
          </p:cNvPr>
          <p:cNvSpPr/>
          <p:nvPr/>
        </p:nvSpPr>
        <p:spPr>
          <a:xfrm>
            <a:off x="2035729" y="1115017"/>
            <a:ext cx="3393521" cy="215544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78D6C93-EAD7-4279-A260-8A0ADCD889A1}"/>
              </a:ext>
            </a:extLst>
          </p:cNvPr>
          <p:cNvGrpSpPr/>
          <p:nvPr/>
        </p:nvGrpSpPr>
        <p:grpSpPr>
          <a:xfrm>
            <a:off x="2035729" y="3523037"/>
            <a:ext cx="3393521" cy="1572839"/>
            <a:chOff x="2035729" y="3284912"/>
            <a:chExt cx="3393521" cy="1572839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A76B8BA-2B3D-475B-9B84-B768787D2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9471" y="3588317"/>
              <a:ext cx="3060000" cy="1093842"/>
            </a:xfrm>
            <a:prstGeom prst="rect">
              <a:avLst/>
            </a:prstGeom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CD9A0C1-8309-450C-86C4-1734B75F462D}"/>
                </a:ext>
              </a:extLst>
            </p:cNvPr>
            <p:cNvSpPr txBox="1"/>
            <p:nvPr/>
          </p:nvSpPr>
          <p:spPr>
            <a:xfrm>
              <a:off x="2054779" y="3284912"/>
              <a:ext cx="4171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(b)</a:t>
              </a:r>
              <a:endParaRPr lang="zh-CN" altLang="en-US" sz="1600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79D6C7BC-469C-44D4-AA13-2F8B4F45A193}"/>
                </a:ext>
              </a:extLst>
            </p:cNvPr>
            <p:cNvSpPr/>
            <p:nvPr/>
          </p:nvSpPr>
          <p:spPr>
            <a:xfrm>
              <a:off x="2035729" y="3316093"/>
              <a:ext cx="3393521" cy="154165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510810C9-A0DA-4322-BE60-F1081FC6F574}"/>
              </a:ext>
            </a:extLst>
          </p:cNvPr>
          <p:cNvSpPr/>
          <p:nvPr/>
        </p:nvSpPr>
        <p:spPr>
          <a:xfrm>
            <a:off x="6415395" y="1115016"/>
            <a:ext cx="3017737" cy="215544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7F61334-FE85-4853-B1D8-91A9F4190A0D}"/>
              </a:ext>
            </a:extLst>
          </p:cNvPr>
          <p:cNvSpPr/>
          <p:nvPr/>
        </p:nvSpPr>
        <p:spPr>
          <a:xfrm>
            <a:off x="6415394" y="3316093"/>
            <a:ext cx="3017738" cy="215544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11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F1ABDBB-555E-442E-AC9F-95186EE23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2C3C538-BD7F-495C-8388-ACD427F969EA}"/>
              </a:ext>
            </a:extLst>
          </p:cNvPr>
          <p:cNvGrpSpPr/>
          <p:nvPr/>
        </p:nvGrpSpPr>
        <p:grpSpPr>
          <a:xfrm>
            <a:off x="426529" y="1695202"/>
            <a:ext cx="2952000" cy="4135581"/>
            <a:chOff x="718456" y="2170216"/>
            <a:chExt cx="2952000" cy="413558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25A5497-A94E-45EE-8FFF-2C6F5B521D11}"/>
                </a:ext>
              </a:extLst>
            </p:cNvPr>
            <p:cNvSpPr/>
            <p:nvPr/>
          </p:nvSpPr>
          <p:spPr>
            <a:xfrm>
              <a:off x="718456" y="2170216"/>
              <a:ext cx="2952000" cy="413558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C76D0B0-9993-407F-9BB7-396B650CF8B8}"/>
                </a:ext>
              </a:extLst>
            </p:cNvPr>
            <p:cNvSpPr/>
            <p:nvPr/>
          </p:nvSpPr>
          <p:spPr>
            <a:xfrm>
              <a:off x="903972" y="2372096"/>
              <a:ext cx="2580968" cy="61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超声辅助电火花加工的优势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88E5B63-039A-42FB-A28B-D9ADBCD23E8B}"/>
                </a:ext>
              </a:extLst>
            </p:cNvPr>
            <p:cNvSpPr/>
            <p:nvPr/>
          </p:nvSpPr>
          <p:spPr>
            <a:xfrm>
              <a:off x="903972" y="3307582"/>
              <a:ext cx="2580968" cy="175432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D645563-A5EF-483E-8403-56BD0463AA2B}"/>
                </a:ext>
              </a:extLst>
            </p:cNvPr>
            <p:cNvSpPr txBox="1"/>
            <p:nvPr/>
          </p:nvSpPr>
          <p:spPr>
            <a:xfrm>
              <a:off x="999407" y="3428381"/>
              <a:ext cx="239009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1</a:t>
              </a:r>
              <a:r>
                <a: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、提高材料去除率</a:t>
              </a:r>
              <a:endPara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  <a:p>
              <a:endPara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  <a:p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2</a:t>
              </a:r>
              <a:r>
                <a: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、提高表面质量</a:t>
              </a:r>
              <a:endPara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  <a:p>
              <a:endPara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  <a:p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3</a:t>
              </a:r>
              <a:r>
                <a: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、</a:t>
              </a:r>
              <a:r>
                <a:rPr lang="zh-CN" altLang="en-US" dirty="0">
                  <a:latin typeface="Calibri" panose="020F0502020204030204" pitchFamily="34" charset="0"/>
                  <a:ea typeface="黑体" panose="02010609060101010101" pitchFamily="49" charset="-122"/>
                </a:rPr>
                <a:t>降低电极磨损率</a:t>
              </a:r>
              <a:endPara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  <a:p>
              <a:endParaRPr lang="zh-CN" altLang="en-US" dirty="0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E366488-1659-44CA-8866-15B08DB51B1B}"/>
              </a:ext>
            </a:extLst>
          </p:cNvPr>
          <p:cNvGrpSpPr/>
          <p:nvPr/>
        </p:nvGrpSpPr>
        <p:grpSpPr>
          <a:xfrm>
            <a:off x="4474036" y="1695202"/>
            <a:ext cx="2952000" cy="4135581"/>
            <a:chOff x="4599708" y="2170216"/>
            <a:chExt cx="2952000" cy="4135581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0E81225-59A3-4CF4-8407-8A681120B2F7}"/>
                </a:ext>
              </a:extLst>
            </p:cNvPr>
            <p:cNvSpPr/>
            <p:nvPr/>
          </p:nvSpPr>
          <p:spPr>
            <a:xfrm>
              <a:off x="4599708" y="2170216"/>
              <a:ext cx="2952000" cy="413558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77A316E-BBD0-4A09-A30B-997495D2C3D2}"/>
                </a:ext>
              </a:extLst>
            </p:cNvPr>
            <p:cNvSpPr/>
            <p:nvPr/>
          </p:nvSpPr>
          <p:spPr>
            <a:xfrm>
              <a:off x="4785224" y="2372096"/>
              <a:ext cx="2580968" cy="61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传统电压电流监测的优势与不足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9250CC4-611A-4A55-9369-2B60EA3094CD}"/>
                </a:ext>
              </a:extLst>
            </p:cNvPr>
            <p:cNvSpPr/>
            <p:nvPr/>
          </p:nvSpPr>
          <p:spPr>
            <a:xfrm>
              <a:off x="4785224" y="3298374"/>
              <a:ext cx="2580968" cy="122141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31B7598-9701-4A7C-801F-EBCC7CDA859B}"/>
                </a:ext>
              </a:extLst>
            </p:cNvPr>
            <p:cNvSpPr/>
            <p:nvPr/>
          </p:nvSpPr>
          <p:spPr>
            <a:xfrm>
              <a:off x="4785224" y="4720423"/>
              <a:ext cx="2580968" cy="120032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E1B4DED-DEC8-4654-ABDB-3746C63A31CD}"/>
                </a:ext>
              </a:extLst>
            </p:cNvPr>
            <p:cNvSpPr txBox="1"/>
            <p:nvPr/>
          </p:nvSpPr>
          <p:spPr>
            <a:xfrm>
              <a:off x="4880659" y="3319457"/>
              <a:ext cx="239009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Calibri" panose="020F0502020204030204" pitchFamily="34" charset="0"/>
                  <a:ea typeface="黑体" panose="02010609060101010101" pitchFamily="49" charset="-122"/>
                </a:rPr>
                <a:t>优势：能够清晰地表示开路、稳定放电、拉弧、短路的放电状态</a:t>
              </a:r>
              <a:endPara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6E24F08-E47D-4A9D-87D6-C2EBB1C3E809}"/>
                </a:ext>
              </a:extLst>
            </p:cNvPr>
            <p:cNvSpPr txBox="1"/>
            <p:nvPr/>
          </p:nvSpPr>
          <p:spPr>
            <a:xfrm>
              <a:off x="4880659" y="4848675"/>
              <a:ext cx="239009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Calibri" panose="020F0502020204030204" pitchFamily="34" charset="0"/>
                  <a:ea typeface="黑体" panose="02010609060101010101" pitchFamily="49" charset="-122"/>
                </a:rPr>
                <a:t>不足：无法</a:t>
              </a:r>
              <a:r>
                <a: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表示超声空化气泡的生成与溃灭、间隙排屑状态</a:t>
              </a:r>
              <a:endPara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E1EC216-F717-4268-85CA-F18786262708}"/>
              </a:ext>
            </a:extLst>
          </p:cNvPr>
          <p:cNvGrpSpPr/>
          <p:nvPr/>
        </p:nvGrpSpPr>
        <p:grpSpPr>
          <a:xfrm>
            <a:off x="8521544" y="1695202"/>
            <a:ext cx="2952000" cy="4135581"/>
            <a:chOff x="8480960" y="2170216"/>
            <a:chExt cx="2952000" cy="413558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15B9369-3F37-4EFE-8073-FF1BB064D78B}"/>
                </a:ext>
              </a:extLst>
            </p:cNvPr>
            <p:cNvSpPr/>
            <p:nvPr/>
          </p:nvSpPr>
          <p:spPr>
            <a:xfrm>
              <a:off x="8480960" y="2170216"/>
              <a:ext cx="2952000" cy="413558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9C16194-8F9B-4A76-8964-CF07D1207115}"/>
                </a:ext>
              </a:extLst>
            </p:cNvPr>
            <p:cNvSpPr/>
            <p:nvPr/>
          </p:nvSpPr>
          <p:spPr>
            <a:xfrm>
              <a:off x="8666476" y="2372096"/>
              <a:ext cx="2580968" cy="61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声发射监测的优势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8ECC044-E516-4258-9156-A9F5DB43111F}"/>
                </a:ext>
              </a:extLst>
            </p:cNvPr>
            <p:cNvSpPr/>
            <p:nvPr/>
          </p:nvSpPr>
          <p:spPr>
            <a:xfrm>
              <a:off x="8666476" y="3307582"/>
              <a:ext cx="2580968" cy="228569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98251DE-922E-4203-9223-EC79B0D830A9}"/>
                </a:ext>
              </a:extLst>
            </p:cNvPr>
            <p:cNvSpPr txBox="1"/>
            <p:nvPr/>
          </p:nvSpPr>
          <p:spPr>
            <a:xfrm>
              <a:off x="8750036" y="3404629"/>
              <a:ext cx="239009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alibri" panose="020F0502020204030204" pitchFamily="34" charset="0"/>
                  <a:ea typeface="黑体" panose="02010609060101010101" pitchFamily="49" charset="-122"/>
                </a:rPr>
                <a:t>1</a:t>
              </a:r>
              <a:r>
                <a:rPr lang="zh-CN" altLang="en-US" dirty="0">
                  <a:latin typeface="Calibri" panose="020F0502020204030204" pitchFamily="34" charset="0"/>
                  <a:ea typeface="黑体" panose="02010609060101010101" pitchFamily="49" charset="-122"/>
                </a:rPr>
                <a:t>、声发射的监测频率上限高，包含更多高频信息</a:t>
              </a:r>
              <a:endParaRPr lang="en-US" altLang="zh-CN" dirty="0">
                <a:latin typeface="Calibri" panose="020F0502020204030204" pitchFamily="34" charset="0"/>
                <a:ea typeface="黑体" panose="02010609060101010101" pitchFamily="49" charset="-122"/>
              </a:endParaRPr>
            </a:p>
            <a:p>
              <a:r>
                <a:rPr lang="en-US" altLang="zh-CN" dirty="0">
                  <a:latin typeface="Calibri" panose="020F0502020204030204" pitchFamily="34" charset="0"/>
                  <a:ea typeface="黑体" panose="02010609060101010101" pitchFamily="49" charset="-122"/>
                </a:rPr>
                <a:t>2</a:t>
              </a:r>
              <a:r>
                <a:rPr lang="zh-CN" altLang="en-US" dirty="0">
                  <a:latin typeface="Calibri" panose="020F0502020204030204" pitchFamily="34" charset="0"/>
                  <a:ea typeface="黑体" panose="02010609060101010101" pitchFamily="49" charset="-122"/>
                </a:rPr>
                <a:t>、声发射对于间隙状态敏感</a:t>
              </a:r>
              <a:endParaRPr lang="en-US" altLang="zh-CN" dirty="0">
                <a:latin typeface="Calibri" panose="020F0502020204030204" pitchFamily="34" charset="0"/>
                <a:ea typeface="黑体" panose="02010609060101010101" pitchFamily="49" charset="-122"/>
              </a:endParaRPr>
            </a:p>
            <a:p>
              <a:r>
                <a:rPr lang="en-US" altLang="zh-CN" dirty="0">
                  <a:latin typeface="Calibri" panose="020F0502020204030204" pitchFamily="34" charset="0"/>
                  <a:ea typeface="黑体" panose="02010609060101010101" pitchFamily="49" charset="-122"/>
                </a:rPr>
                <a:t>3</a:t>
              </a:r>
              <a:r>
                <a:rPr lang="zh-CN" altLang="en-US" dirty="0">
                  <a:latin typeface="Calibri" panose="020F0502020204030204" pitchFamily="34" charset="0"/>
                  <a:ea typeface="黑体" panose="02010609060101010101" pitchFamily="49" charset="-122"/>
                </a:rPr>
                <a:t>、声发射与气泡变化相关</a:t>
              </a:r>
              <a:endParaRPr lang="en-US" altLang="zh-CN" dirty="0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175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E4E81-C7C2-4CA6-BFD4-D6F8A1381C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2F69DA-4ADE-4E87-BB37-0C33BD06A367}"/>
              </a:ext>
            </a:extLst>
          </p:cNvPr>
          <p:cNvSpPr txBox="1"/>
          <p:nvPr/>
        </p:nvSpPr>
        <p:spPr>
          <a:xfrm>
            <a:off x="275902" y="1481219"/>
            <a:ext cx="9361039" cy="2914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）超声辅助电火花加工声发射检测的机理研究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）面向超声辅助电火花加工声发射检测的多通道采集设备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3</a:t>
            </a:r>
            <a:r>
              <a:rPr lang="zh-CN" altLang="en-US" sz="2400" dirty="0">
                <a:latin typeface="+mn-ea"/>
              </a:rPr>
              <a:t>）声发射与电信号数据的采集与分析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4</a:t>
            </a:r>
            <a:r>
              <a:rPr lang="zh-CN" altLang="en-US" sz="2400" dirty="0">
                <a:latin typeface="+mn-ea"/>
              </a:rPr>
              <a:t>）超声辅助电火花加工放电间隙状态的声发射识别模型研究</a:t>
            </a:r>
            <a:endParaRPr lang="en-US" altLang="zh-CN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018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DFF3A-E90D-48CB-AB90-FAF537A048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课题进展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D464FE-BBB5-4935-B244-03CF2DE6DD69}"/>
              </a:ext>
            </a:extLst>
          </p:cNvPr>
          <p:cNvSpPr txBox="1"/>
          <p:nvPr/>
        </p:nvSpPr>
        <p:spPr>
          <a:xfrm>
            <a:off x="143339" y="11811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声发射机理</a:t>
            </a:r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95D1D9C0-39CB-4D60-92B7-A27EBFF6D359}"/>
              </a:ext>
            </a:extLst>
          </p:cNvPr>
          <p:cNvGrpSpPr/>
          <p:nvPr/>
        </p:nvGrpSpPr>
        <p:grpSpPr>
          <a:xfrm>
            <a:off x="1848179" y="1894051"/>
            <a:ext cx="8495641" cy="3795133"/>
            <a:chOff x="1726790" y="1789276"/>
            <a:chExt cx="8495641" cy="379513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7D9F9B4-B191-42B9-96C4-70F3074D1987}"/>
                </a:ext>
              </a:extLst>
            </p:cNvPr>
            <p:cNvSpPr/>
            <p:nvPr/>
          </p:nvSpPr>
          <p:spPr>
            <a:xfrm>
              <a:off x="2460645" y="4204917"/>
              <a:ext cx="2196936" cy="75954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B360748-2FE4-42AE-BECF-E8F6D82744F6}"/>
                </a:ext>
              </a:extLst>
            </p:cNvPr>
            <p:cNvSpPr/>
            <p:nvPr/>
          </p:nvSpPr>
          <p:spPr>
            <a:xfrm>
              <a:off x="2656588" y="4204917"/>
              <a:ext cx="1805049" cy="5670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38D87FA-9F32-4A49-BBF4-D7DDF0E67B96}"/>
                </a:ext>
              </a:extLst>
            </p:cNvPr>
            <p:cNvSpPr/>
            <p:nvPr/>
          </p:nvSpPr>
          <p:spPr>
            <a:xfrm>
              <a:off x="3452234" y="2964016"/>
              <a:ext cx="106879" cy="10687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8EDF9CF-699D-4612-8EE0-D16EDF7FC545}"/>
                </a:ext>
              </a:extLst>
            </p:cNvPr>
            <p:cNvSpPr/>
            <p:nvPr/>
          </p:nvSpPr>
          <p:spPr>
            <a:xfrm>
              <a:off x="2983158" y="4638366"/>
              <a:ext cx="1151908" cy="133598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8B25B70-B0A7-4B43-A315-FB2F5D07BB5E}"/>
                </a:ext>
              </a:extLst>
            </p:cNvPr>
            <p:cNvSpPr/>
            <p:nvPr/>
          </p:nvSpPr>
          <p:spPr>
            <a:xfrm>
              <a:off x="3844120" y="4458464"/>
              <a:ext cx="201881" cy="19177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FD599D6-07A7-449B-A045-88A83059D5EC}"/>
                </a:ext>
              </a:extLst>
            </p:cNvPr>
            <p:cNvCxnSpPr>
              <a:cxnSpLocks/>
            </p:cNvCxnSpPr>
            <p:nvPr/>
          </p:nvCxnSpPr>
          <p:spPr>
            <a:xfrm>
              <a:off x="4051246" y="4525446"/>
              <a:ext cx="1922186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0BD25AE-50B4-4E20-AB4A-B690C508AE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9112" y="3797815"/>
              <a:ext cx="81470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CC4F8F38-4E9F-4F20-AB7C-D18095F602C6}"/>
                </a:ext>
              </a:extLst>
            </p:cNvPr>
            <p:cNvCxnSpPr>
              <a:cxnSpLocks/>
            </p:cNvCxnSpPr>
            <p:nvPr/>
          </p:nvCxnSpPr>
          <p:spPr>
            <a:xfrm>
              <a:off x="4135066" y="4705165"/>
              <a:ext cx="1252043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图形 45">
              <a:extLst>
                <a:ext uri="{FF2B5EF4-FFF2-40B4-BE49-F238E27FC236}">
                  <a16:creationId xmlns:a16="http://schemas.microsoft.com/office/drawing/2014/main" id="{830413CB-3D3C-4396-A855-2445DD6E3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07670" y="2188598"/>
              <a:ext cx="811681" cy="776728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856507EC-8184-41C3-A111-EEB44D99E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8528" y="3406404"/>
              <a:ext cx="509648" cy="509648"/>
            </a:xfrm>
            <a:prstGeom prst="rect">
              <a:avLst/>
            </a:prstGeom>
          </p:spPr>
        </p:pic>
        <p:pic>
          <p:nvPicPr>
            <p:cNvPr id="52" name="图形 51">
              <a:extLst>
                <a:ext uri="{FF2B5EF4-FFF2-40B4-BE49-F238E27FC236}">
                  <a16:creationId xmlns:a16="http://schemas.microsoft.com/office/drawing/2014/main" id="{5980D6FE-7758-4AAC-8EB8-D90809CC2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43678" y="2964016"/>
              <a:ext cx="509649" cy="509649"/>
            </a:xfrm>
            <a:prstGeom prst="rect">
              <a:avLst/>
            </a:prstGeom>
          </p:spPr>
        </p:pic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BAF6D05-32F9-4861-9F41-970E08FCA9CB}"/>
                </a:ext>
              </a:extLst>
            </p:cNvPr>
            <p:cNvCxnSpPr>
              <a:cxnSpLocks/>
            </p:cNvCxnSpPr>
            <p:nvPr/>
          </p:nvCxnSpPr>
          <p:spPr>
            <a:xfrm>
              <a:off x="5382346" y="3912118"/>
              <a:ext cx="0" cy="79200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2F493E56-57B0-49FE-A76D-27D1CDD93BB0}"/>
                </a:ext>
              </a:extLst>
            </p:cNvPr>
            <p:cNvSpPr/>
            <p:nvPr/>
          </p:nvSpPr>
          <p:spPr>
            <a:xfrm>
              <a:off x="4326277" y="3720333"/>
              <a:ext cx="144452" cy="14445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F4379E0F-716D-4274-A11F-1BB64CB3BDD3}"/>
                </a:ext>
              </a:extLst>
            </p:cNvPr>
            <p:cNvCxnSpPr>
              <a:cxnSpLocks/>
            </p:cNvCxnSpPr>
            <p:nvPr/>
          </p:nvCxnSpPr>
          <p:spPr>
            <a:xfrm>
              <a:off x="4427081" y="3797815"/>
              <a:ext cx="756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D3C48906-AC9B-4C2C-8D4C-9CC3D32DC5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8503" y="3462855"/>
              <a:ext cx="0" cy="29209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9" name="图形 68">
              <a:extLst>
                <a:ext uri="{FF2B5EF4-FFF2-40B4-BE49-F238E27FC236}">
                  <a16:creationId xmlns:a16="http://schemas.microsoft.com/office/drawing/2014/main" id="{CEDE0A2F-06DC-4AA6-B87F-356572945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054747" y="1972179"/>
              <a:ext cx="1167684" cy="1167684"/>
            </a:xfrm>
            <a:prstGeom prst="rect">
              <a:avLst/>
            </a:prstGeom>
          </p:spPr>
        </p:pic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F1257BAB-0943-4038-A9F7-FFB81F28FD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3327" y="3247897"/>
              <a:ext cx="2904575" cy="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D4C6C8AA-967F-457F-9B7F-A717E5DB8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8452" y="2964016"/>
              <a:ext cx="0" cy="29209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FBBC9693-15EB-45AE-AE10-432ED5E53213}"/>
                </a:ext>
              </a:extLst>
            </p:cNvPr>
            <p:cNvCxnSpPr>
              <a:cxnSpLocks/>
            </p:cNvCxnSpPr>
            <p:nvPr/>
          </p:nvCxnSpPr>
          <p:spPr>
            <a:xfrm>
              <a:off x="5698885" y="3797815"/>
              <a:ext cx="203281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11F4CC4A-72AC-4DF9-8589-EC4DA83E2194}"/>
                </a:ext>
              </a:extLst>
            </p:cNvPr>
            <p:cNvCxnSpPr>
              <a:cxnSpLocks/>
            </p:cNvCxnSpPr>
            <p:nvPr/>
          </p:nvCxnSpPr>
          <p:spPr>
            <a:xfrm>
              <a:off x="7731703" y="2964016"/>
              <a:ext cx="0" cy="82854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8964DF1F-2F90-406B-B979-C3E4F213E75A}"/>
                </a:ext>
              </a:extLst>
            </p:cNvPr>
            <p:cNvCxnSpPr>
              <a:cxnSpLocks/>
            </p:cNvCxnSpPr>
            <p:nvPr/>
          </p:nvCxnSpPr>
          <p:spPr>
            <a:xfrm>
              <a:off x="6500813" y="4519195"/>
              <a:ext cx="1459490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69392C29-6C75-42A4-8B56-B3EA95EDA573}"/>
                </a:ext>
              </a:extLst>
            </p:cNvPr>
            <p:cNvCxnSpPr>
              <a:cxnSpLocks/>
            </p:cNvCxnSpPr>
            <p:nvPr/>
          </p:nvCxnSpPr>
          <p:spPr>
            <a:xfrm>
              <a:off x="7960303" y="2964016"/>
              <a:ext cx="0" cy="1555179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2C079050-D53B-4D5B-B929-9F789B830D0C}"/>
                </a:ext>
              </a:extLst>
            </p:cNvPr>
            <p:cNvCxnSpPr>
              <a:cxnSpLocks/>
            </p:cNvCxnSpPr>
            <p:nvPr/>
          </p:nvCxnSpPr>
          <p:spPr>
            <a:xfrm>
              <a:off x="8219351" y="2740540"/>
              <a:ext cx="835396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7C38D868-0280-465F-BA26-73E3CD858A78}"/>
                </a:ext>
              </a:extLst>
            </p:cNvPr>
            <p:cNvCxnSpPr/>
            <p:nvPr/>
          </p:nvCxnSpPr>
          <p:spPr>
            <a:xfrm>
              <a:off x="2983158" y="2740540"/>
              <a:ext cx="469076" cy="507357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E342F567-192E-41EF-9F43-10A6FFA56FFC}"/>
                </a:ext>
              </a:extLst>
            </p:cNvPr>
            <p:cNvSpPr txBox="1"/>
            <p:nvPr/>
          </p:nvSpPr>
          <p:spPr>
            <a:xfrm>
              <a:off x="2531397" y="240659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电极</a:t>
              </a:r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D2D957D6-F354-4FA2-A090-A545CD87A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1690" y="4711543"/>
              <a:ext cx="239300" cy="567046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B8446E4C-16D7-40CA-9C2C-A220BA27D445}"/>
                </a:ext>
              </a:extLst>
            </p:cNvPr>
            <p:cNvSpPr txBox="1"/>
            <p:nvPr/>
          </p:nvSpPr>
          <p:spPr>
            <a:xfrm>
              <a:off x="2584659" y="521324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工件</a:t>
              </a:r>
            </a:p>
          </p:txBody>
        </p: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F765E6ED-0677-4E13-B49F-467BEBF4C273}"/>
                </a:ext>
              </a:extLst>
            </p:cNvPr>
            <p:cNvCxnSpPr>
              <a:cxnSpLocks/>
              <a:endCxn id="52" idx="0"/>
            </p:cNvCxnSpPr>
            <p:nvPr/>
          </p:nvCxnSpPr>
          <p:spPr>
            <a:xfrm>
              <a:off x="4135066" y="2521568"/>
              <a:ext cx="263437" cy="442448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9767090F-C80B-43E7-AC5D-89914EB662F6}"/>
                </a:ext>
              </a:extLst>
            </p:cNvPr>
            <p:cNvCxnSpPr>
              <a:cxnSpLocks/>
            </p:cNvCxnSpPr>
            <p:nvPr/>
          </p:nvCxnSpPr>
          <p:spPr>
            <a:xfrm>
              <a:off x="5183081" y="2972068"/>
              <a:ext cx="263437" cy="442448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2F76DAEF-C66C-4909-802A-37528708AE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2137" y="4568626"/>
              <a:ext cx="422921" cy="725145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2CBE0430-9CA8-4173-8683-7AC5FC02C16B}"/>
                </a:ext>
              </a:extLst>
            </p:cNvPr>
            <p:cNvSpPr txBox="1"/>
            <p:nvPr/>
          </p:nvSpPr>
          <p:spPr>
            <a:xfrm>
              <a:off x="3481954" y="5215077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声发射传感器</a:t>
              </a:r>
            </a:p>
          </p:txBody>
        </p:sp>
        <p:pic>
          <p:nvPicPr>
            <p:cNvPr id="102" name="图形 101">
              <a:extLst>
                <a:ext uri="{FF2B5EF4-FFF2-40B4-BE49-F238E27FC236}">
                  <a16:creationId xmlns:a16="http://schemas.microsoft.com/office/drawing/2014/main" id="{00051F87-B19C-435A-AC71-AE2D180ED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95875" y="4156623"/>
              <a:ext cx="725144" cy="725144"/>
            </a:xfrm>
            <a:prstGeom prst="rect">
              <a:avLst/>
            </a:prstGeom>
          </p:spPr>
        </p:pic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477A767F-AF08-44DA-8BF7-49ADB0A672B6}"/>
                </a:ext>
              </a:extLst>
            </p:cNvPr>
            <p:cNvSpPr txBox="1"/>
            <p:nvPr/>
          </p:nvSpPr>
          <p:spPr>
            <a:xfrm>
              <a:off x="3679946" y="202611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电流计</a:t>
              </a: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B63EA89B-294D-436C-AD3F-13E3E09FC131}"/>
                </a:ext>
              </a:extLst>
            </p:cNvPr>
            <p:cNvSpPr txBox="1"/>
            <p:nvPr/>
          </p:nvSpPr>
          <p:spPr>
            <a:xfrm>
              <a:off x="4713754" y="260768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电压计</a:t>
              </a:r>
            </a:p>
          </p:txBody>
        </p: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BD2E1BBD-C781-4558-A76F-68A5768D42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5353" y="4696792"/>
              <a:ext cx="330732" cy="581797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B87C8F09-BD0A-4636-9F99-BDFC1A6EFD09}"/>
                </a:ext>
              </a:extLst>
            </p:cNvPr>
            <p:cNvSpPr txBox="1"/>
            <p:nvPr/>
          </p:nvSpPr>
          <p:spPr>
            <a:xfrm>
              <a:off x="5659834" y="521324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前置放大器</a:t>
              </a: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9AC60B81-D9C4-4684-8468-9474E5FC768F}"/>
                </a:ext>
              </a:extLst>
            </p:cNvPr>
            <p:cNvSpPr txBox="1"/>
            <p:nvPr/>
          </p:nvSpPr>
          <p:spPr>
            <a:xfrm>
              <a:off x="6913263" y="1789276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多通道采集设备</a:t>
              </a: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0D78C2DC-9374-4C55-9566-27C1A1E4FDB8}"/>
                </a:ext>
              </a:extLst>
            </p:cNvPr>
            <p:cNvSpPr txBox="1"/>
            <p:nvPr/>
          </p:nvSpPr>
          <p:spPr>
            <a:xfrm>
              <a:off x="9212204" y="304518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计算机</a:t>
              </a:r>
            </a:p>
          </p:txBody>
        </p: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7580DFFE-B396-4328-AB1B-550F2F742C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1519" y="3301867"/>
              <a:ext cx="7991" cy="629951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6E2FC70B-F144-4FA3-9547-63A2D6FC0FEC}"/>
                </a:ext>
              </a:extLst>
            </p:cNvPr>
            <p:cNvSpPr txBox="1"/>
            <p:nvPr/>
          </p:nvSpPr>
          <p:spPr>
            <a:xfrm>
              <a:off x="2262749" y="343419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超声振动</a:t>
              </a:r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6DCEC897-25E7-4E30-9E72-BF4226D78AB9}"/>
                </a:ext>
              </a:extLst>
            </p:cNvPr>
            <p:cNvSpPr/>
            <p:nvPr/>
          </p:nvSpPr>
          <p:spPr>
            <a:xfrm>
              <a:off x="3620859" y="4362816"/>
              <a:ext cx="144000" cy="144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54E3ABAA-4777-44CA-908D-70E2251C957B}"/>
                </a:ext>
              </a:extLst>
            </p:cNvPr>
            <p:cNvSpPr/>
            <p:nvPr/>
          </p:nvSpPr>
          <p:spPr>
            <a:xfrm>
              <a:off x="3196533" y="4438835"/>
              <a:ext cx="99210" cy="9921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6ADEE938-81B5-430F-8C80-33AE368D5660}"/>
                </a:ext>
              </a:extLst>
            </p:cNvPr>
            <p:cNvSpPr/>
            <p:nvPr/>
          </p:nvSpPr>
          <p:spPr>
            <a:xfrm>
              <a:off x="3473142" y="4554352"/>
              <a:ext cx="68455" cy="6845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406C1FDF-9A91-4C41-877E-4912396320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365" y="4519197"/>
              <a:ext cx="879720" cy="718361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AC71E77A-08AC-4F9C-8232-2DD1FD02F25C}"/>
                </a:ext>
              </a:extLst>
            </p:cNvPr>
            <p:cNvSpPr txBox="1"/>
            <p:nvPr/>
          </p:nvSpPr>
          <p:spPr>
            <a:xfrm>
              <a:off x="1726790" y="521324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空化泡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470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DFF3A-E90D-48CB-AB90-FAF537A048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课题进展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C63A77-47E8-46E4-9E59-2B58538EA07F}"/>
              </a:ext>
            </a:extLst>
          </p:cNvPr>
          <p:cNvSpPr txBox="1"/>
          <p:nvPr/>
        </p:nvSpPr>
        <p:spPr>
          <a:xfrm>
            <a:off x="320674" y="120300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多通道采集设备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20CB2F95-3BC2-442A-831D-48A48D473C2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956" y="1632661"/>
            <a:ext cx="3356419" cy="2041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DC5BDEA-B9D5-4851-AD22-E90779AA9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956" y="3743662"/>
            <a:ext cx="3356419" cy="14162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ED8A83E-5C19-405F-972F-948CEA283727}"/>
              </a:ext>
            </a:extLst>
          </p:cNvPr>
          <p:cNvSpPr txBox="1"/>
          <p:nvPr/>
        </p:nvSpPr>
        <p:spPr>
          <a:xfrm>
            <a:off x="320674" y="1632661"/>
            <a:ext cx="6791325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采集板卡型号：</a:t>
            </a:r>
            <a:r>
              <a:rPr lang="en-US" altLang="zh-CN" dirty="0"/>
              <a:t>PG-796xR 250M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ADC</a:t>
            </a:r>
            <a:r>
              <a:rPr lang="zh-CN" altLang="en-US" dirty="0"/>
              <a:t>采样率：</a:t>
            </a:r>
            <a:r>
              <a:rPr lang="en-US" altLang="zh-CN" dirty="0"/>
              <a:t>250M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ADC</a:t>
            </a:r>
            <a:r>
              <a:rPr lang="zh-CN" altLang="en-US" dirty="0"/>
              <a:t>位数：</a:t>
            </a:r>
            <a:r>
              <a:rPr lang="en-US" altLang="zh-CN" dirty="0"/>
              <a:t>16bit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ADC</a:t>
            </a:r>
            <a:r>
              <a:rPr lang="zh-CN" altLang="en-US" dirty="0"/>
              <a:t>通道数：</a:t>
            </a:r>
            <a:r>
              <a:rPr lang="en-US" altLang="zh-CN" dirty="0"/>
              <a:t>4</a:t>
            </a:r>
            <a:r>
              <a:rPr lang="zh-CN" altLang="en-US" dirty="0"/>
              <a:t>通道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工控机配置：酷睿</a:t>
            </a:r>
            <a:r>
              <a:rPr lang="en-US" altLang="zh-CN" dirty="0"/>
              <a:t>i7-6700 </a:t>
            </a:r>
            <a:r>
              <a:rPr lang="zh-CN" altLang="en-US" dirty="0"/>
              <a:t>四核 </a:t>
            </a:r>
            <a:r>
              <a:rPr lang="en-US" altLang="zh-CN" dirty="0"/>
              <a:t>3.4GHZ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声发射传感器配置：频率范围</a:t>
            </a:r>
            <a:r>
              <a:rPr lang="en-US" altLang="zh-CN" dirty="0"/>
              <a:t>100KHz</a:t>
            </a:r>
            <a:r>
              <a:rPr lang="zh-CN" altLang="en-US" dirty="0"/>
              <a:t>～</a:t>
            </a:r>
            <a:r>
              <a:rPr lang="en-US" altLang="zh-CN" dirty="0"/>
              <a:t>1000KHz</a:t>
            </a:r>
            <a:r>
              <a:rPr lang="zh-CN" altLang="en-US" dirty="0"/>
              <a:t>，谐振频率</a:t>
            </a:r>
            <a:r>
              <a:rPr lang="en-US" altLang="zh-CN" dirty="0"/>
              <a:t>500KHz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电流计配置：</a:t>
            </a:r>
            <a:r>
              <a:rPr lang="en-US" altLang="zh-CN" dirty="0"/>
              <a:t>ETA 5540C </a:t>
            </a:r>
            <a:r>
              <a:rPr lang="zh-CN" altLang="en-US" dirty="0"/>
              <a:t>采样率</a:t>
            </a:r>
            <a:r>
              <a:rPr lang="en-US" altLang="zh-CN" dirty="0"/>
              <a:t>100MHz </a:t>
            </a:r>
            <a:r>
              <a:rPr lang="zh-CN" altLang="en-US" dirty="0"/>
              <a:t>量程</a:t>
            </a:r>
            <a:r>
              <a:rPr lang="en-US" altLang="zh-CN" dirty="0"/>
              <a:t>40A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电压计配置：</a:t>
            </a:r>
            <a:r>
              <a:rPr lang="en-US" altLang="zh-CN" dirty="0"/>
              <a:t>ETA 5007A </a:t>
            </a:r>
            <a:r>
              <a:rPr lang="zh-CN" altLang="en-US" dirty="0"/>
              <a:t>采样率</a:t>
            </a:r>
            <a:r>
              <a:rPr lang="en-US" altLang="zh-CN" dirty="0"/>
              <a:t>70MHz </a:t>
            </a:r>
            <a:r>
              <a:rPr lang="zh-CN" altLang="en-US" dirty="0"/>
              <a:t>量程</a:t>
            </a:r>
            <a:r>
              <a:rPr lang="en-US" altLang="zh-CN" dirty="0"/>
              <a:t>±700V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52DF9D-9FAB-45F0-9067-BCDFBC7A630B}"/>
              </a:ext>
            </a:extLst>
          </p:cNvPr>
          <p:cNvSpPr/>
          <p:nvPr/>
        </p:nvSpPr>
        <p:spPr>
          <a:xfrm>
            <a:off x="8087279" y="1563475"/>
            <a:ext cx="3485596" cy="3665663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8C079A-F4A7-4C70-AA04-BE41CC9E6923}"/>
              </a:ext>
            </a:extLst>
          </p:cNvPr>
          <p:cNvSpPr txBox="1"/>
          <p:nvPr/>
        </p:nvSpPr>
        <p:spPr>
          <a:xfrm>
            <a:off x="9019598" y="5285661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工控机与采集卡</a:t>
            </a:r>
          </a:p>
        </p:txBody>
      </p:sp>
    </p:spTree>
    <p:extLst>
      <p:ext uri="{BB962C8B-B14F-4D97-AF65-F5344CB8AC3E}">
        <p14:creationId xmlns:p14="http://schemas.microsoft.com/office/powerpoint/2010/main" val="72178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DFF3A-E90D-48CB-AB90-FAF537A048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课题进展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EE3963A-2839-4D14-B6B0-FF54CF0D0636}"/>
              </a:ext>
            </a:extLst>
          </p:cNvPr>
          <p:cNvSpPr txBox="1"/>
          <p:nvPr/>
        </p:nvSpPr>
        <p:spPr>
          <a:xfrm>
            <a:off x="143339" y="1218938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声发射与电信号数据的采集与初步分析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73ABAD-2544-4787-B4A3-C56396353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867" y="1588270"/>
            <a:ext cx="5280000" cy="396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35E6C34-345E-4445-8755-4D531489F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67" y="1588270"/>
            <a:ext cx="5280000" cy="396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12EE6EC-9717-43B4-8182-5643B3635B61}"/>
              </a:ext>
            </a:extLst>
          </p:cNvPr>
          <p:cNvSpPr txBox="1"/>
          <p:nvPr/>
        </p:nvSpPr>
        <p:spPr>
          <a:xfrm>
            <a:off x="1079500" y="5917602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从上图可以看出，连续放电时，声发射信号以脉冲簇响应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92AA95-8E19-41EB-8146-162EC617F4B0}"/>
              </a:ext>
            </a:extLst>
          </p:cNvPr>
          <p:cNvSpPr txBox="1"/>
          <p:nvPr/>
        </p:nvSpPr>
        <p:spPr>
          <a:xfrm>
            <a:off x="1798835" y="5378993"/>
            <a:ext cx="2852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电压电流和声信号的时域变化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D7DFB2-715E-472A-9314-FE9A54EFDCCA}"/>
              </a:ext>
            </a:extLst>
          </p:cNvPr>
          <p:cNvSpPr txBox="1"/>
          <p:nvPr/>
        </p:nvSpPr>
        <p:spPr>
          <a:xfrm>
            <a:off x="6441467" y="5378993"/>
            <a:ext cx="367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电压电流和声信号的时域变化部分放大</a:t>
            </a:r>
          </a:p>
        </p:txBody>
      </p:sp>
    </p:spTree>
    <p:extLst>
      <p:ext uri="{BB962C8B-B14F-4D97-AF65-F5344CB8AC3E}">
        <p14:creationId xmlns:p14="http://schemas.microsoft.com/office/powerpoint/2010/main" val="1082796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DFF3A-E90D-48CB-AB90-FAF537A048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课题进展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EE3963A-2839-4D14-B6B0-FF54CF0D0636}"/>
              </a:ext>
            </a:extLst>
          </p:cNvPr>
          <p:cNvSpPr txBox="1"/>
          <p:nvPr/>
        </p:nvSpPr>
        <p:spPr>
          <a:xfrm>
            <a:off x="143339" y="1218938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声发射与电信号数据的采集与初步分析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1E0D91-BFA1-4EF4-B155-7720F875B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661" y="1989000"/>
            <a:ext cx="3840000" cy="288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9575BDD-3619-43C3-ABF1-09C78E44E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166" y="1989000"/>
            <a:ext cx="3840000" cy="2880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AF2BBE2-9C31-4035-9D92-8EADF5370B76}"/>
              </a:ext>
            </a:extLst>
          </p:cNvPr>
          <p:cNvSpPr txBox="1"/>
          <p:nvPr/>
        </p:nvSpPr>
        <p:spPr>
          <a:xfrm>
            <a:off x="517968" y="5639062"/>
            <a:ext cx="8493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通过连续小波变换和快速傅里叶变换，可以发现中心频率集中在接近</a:t>
            </a:r>
            <a:r>
              <a:rPr lang="en-US" altLang="zh-CN" dirty="0"/>
              <a:t>193kHz</a:t>
            </a:r>
            <a:r>
              <a:rPr lang="zh-CN" altLang="en-US" dirty="0"/>
              <a:t>附近。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F8B99F6-1E85-4549-AD09-456F1F720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70" y="1989000"/>
            <a:ext cx="3840000" cy="28800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5B57DD1-B12E-48DD-AEB3-ABEFB5080B44}"/>
              </a:ext>
            </a:extLst>
          </p:cNvPr>
          <p:cNvSpPr txBox="1"/>
          <p:nvPr/>
        </p:nvSpPr>
        <p:spPr>
          <a:xfrm>
            <a:off x="1246599" y="4870506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截取的声发射信号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1D6AD52-C603-400A-BB79-0EE108E37E7C}"/>
              </a:ext>
            </a:extLst>
          </p:cNvPr>
          <p:cNvSpPr txBox="1"/>
          <p:nvPr/>
        </p:nvSpPr>
        <p:spPr>
          <a:xfrm>
            <a:off x="5312455" y="487050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连续小波变换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D1F579A-E16C-47A4-8170-F71C74291382}"/>
              </a:ext>
            </a:extLst>
          </p:cNvPr>
          <p:cNvSpPr txBox="1"/>
          <p:nvPr/>
        </p:nvSpPr>
        <p:spPr>
          <a:xfrm>
            <a:off x="9318183" y="4870506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快速傅里叶变换</a:t>
            </a:r>
          </a:p>
        </p:txBody>
      </p:sp>
    </p:spTree>
    <p:extLst>
      <p:ext uri="{BB962C8B-B14F-4D97-AF65-F5344CB8AC3E}">
        <p14:creationId xmlns:p14="http://schemas.microsoft.com/office/powerpoint/2010/main" val="196125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ABF61-D0AD-401F-9C09-02E71AC97D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课题后续计划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A3493F-EF0E-4C19-8C6A-C3CBDC55B43D}"/>
              </a:ext>
            </a:extLst>
          </p:cNvPr>
          <p:cNvSpPr txBox="1"/>
          <p:nvPr/>
        </p:nvSpPr>
        <p:spPr>
          <a:xfrm>
            <a:off x="1923692" y="1458515"/>
            <a:ext cx="84238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buFont typeface="Wingdings" panose="05000000000000000000" charset="0"/>
              <a:buNone/>
            </a:pPr>
            <a:endParaRPr lang="en-US" altLang="zh-CN" sz="2100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 indent="0">
              <a:buFont typeface="Wingdings" panose="05000000000000000000" charset="0"/>
              <a:buNone/>
            </a:pP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EF6BC2-80D5-48B9-A66F-48693DBD91CC}"/>
              </a:ext>
            </a:extLst>
          </p:cNvPr>
          <p:cNvSpPr txBox="1"/>
          <p:nvPr/>
        </p:nvSpPr>
        <p:spPr>
          <a:xfrm>
            <a:off x="720770" y="1091437"/>
            <a:ext cx="10750460" cy="4359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已完成目标：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目前完成声波传播仿真分析。使用示波器采集的数据完成了声信号的初步分析。多通道采集设备硬件初步完成。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后续目标：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）完善复杂工况的仿真分析。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）使用多通道采集设备实际采样数据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）建立超声辅助电火花加工的声发射识别模型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2484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ChangeArrowheads="1"/>
          </p:cNvSpPr>
          <p:nvPr/>
        </p:nvSpPr>
        <p:spPr bwMode="auto">
          <a:xfrm>
            <a:off x="609600" y="6010276"/>
            <a:ext cx="10972800" cy="40004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rgbClr val="FF82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880" b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34478" y="2409825"/>
            <a:ext cx="9123044" cy="2183130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恳请老师批评指正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！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 flipV="1">
            <a:off x="609600" y="1312546"/>
            <a:ext cx="10972800" cy="40004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rgbClr val="FF82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880" b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7174" name="Picture 13" descr="深大标牌副本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0"/>
            <a:ext cx="10967086" cy="1318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9"/>
          <p:cNvSpPr txBox="1">
            <a:spLocks noChangeArrowheads="1"/>
          </p:cNvSpPr>
          <p:nvPr/>
        </p:nvSpPr>
        <p:spPr>
          <a:xfrm>
            <a:off x="609600" y="5718811"/>
            <a:ext cx="10972800" cy="1352550"/>
          </a:xfrm>
        </p:spPr>
        <p:txBody>
          <a:bodyPr>
            <a:norm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None/>
              <a:defRPr kumimoji="1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3429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685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3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0287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17145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2057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24003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7000"/>
              </a:spcBef>
              <a:defRPr/>
            </a:pPr>
            <a:endParaRPr lang="zh-CN" altLang="en-US" sz="216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63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黑体">
      <a:majorFont>
        <a:latin typeface="Calibri Light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14399</TotalTime>
  <Words>711</Words>
  <Application>Microsoft Office PowerPoint</Application>
  <PresentationFormat>宽屏</PresentationFormat>
  <Paragraphs>101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MS PGothic</vt:lpstr>
      <vt:lpstr>黑体</vt:lpstr>
      <vt:lpstr>华文楷体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工效学监测的远程跨平台多模态可穿戴系统开发</vt:lpstr>
      <vt:lpstr>目录</vt:lpstr>
      <vt:lpstr>研究背景</vt:lpstr>
      <vt:lpstr>研究背景</vt:lpstr>
      <vt:lpstr>研究背景</vt:lpstr>
      <vt:lpstr>研究背景</vt:lpstr>
      <vt:lpstr>研究内容</vt:lpstr>
      <vt:lpstr>课题进展</vt:lpstr>
      <vt:lpstr>课题进展</vt:lpstr>
      <vt:lpstr>课题进展</vt:lpstr>
      <vt:lpstr>课题进展</vt:lpstr>
      <vt:lpstr>课题后续计划</vt:lpstr>
      <vt:lpstr>恳请老师批评指正！</vt:lpstr>
    </vt:vector>
  </TitlesOfParts>
  <Company>Micorosoft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面向光学内窥镜非晶合金微齿轮关节的电解修形抛光技术研究</dc:title>
  <dc:creator>Micorosoft</dc:creator>
  <cp:lastModifiedBy>HanHan</cp:lastModifiedBy>
  <cp:revision>721</cp:revision>
  <cp:lastPrinted>2020-12-24T07:30:31Z</cp:lastPrinted>
  <dcterms:created xsi:type="dcterms:W3CDTF">2020-11-09T13:13:47Z</dcterms:created>
  <dcterms:modified xsi:type="dcterms:W3CDTF">2025-04-24T07:00:47Z</dcterms:modified>
</cp:coreProperties>
</file>