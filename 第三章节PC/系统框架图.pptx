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504" y="-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8CED3-6E6B-A479-E72B-E21EB521A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6E8CCA-1D2D-254E-765F-73901BFAC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48802D-67AE-BA0C-63DE-CEDC8EFA9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F00D9-A13A-6240-E22C-DCCF5736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894022-78E9-5D83-9394-D7FEBEC56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16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CF389-C479-4465-FB75-5BE0EF6E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CDC50D-ADB1-C303-997D-4B00F39E1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E28164-E807-6BAA-0F0E-E27280969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C663FB-02FF-FC85-2142-7CD758A9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96E037-F6DC-E9A5-0CC3-462A4D6D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48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B1FC5-4E3D-10B8-7E47-38C8D8CF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753727-FF17-5EE2-0213-4BDEFDB3C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681E2-85F0-BA80-18F9-D3BE3366B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9591F-A6EB-A138-FDB9-2903C83B6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F035BA-CEA8-FA1D-3AEE-0B13E7A2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E7B3F-66B0-8CA3-A32E-0176C524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E7799E-4955-A257-BAB4-D763EDE86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41B314-4971-C3D3-1FBE-8BFCB748D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6C82D-8221-6F96-93BB-DD25FCF8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FE918-66D3-C754-CEB0-C5BB61F2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D393B-0368-2724-F9F3-A2020D10F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9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2130C-D221-A2A3-2C75-80B8CBB6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477678-2FAE-677D-C6D5-4A6E14668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BA1F3E-608A-AB58-BBC4-B6EEEA9ED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CADB3C-FA66-CAE5-809D-32972A208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3DC05E-B000-03C5-4FA8-FEB5A2369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E2CEDA-33A8-29D7-D41C-0973538C3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643796-6DB5-8928-0097-7BD5B042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7CDC92-FAE2-381C-3916-C865845C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36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7DB83-228B-D44B-C913-D3FC71E3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8CA13A-0551-3119-8D91-B3AC7C56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9916C9-2DF2-4130-4D04-65655DD8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E7511C-6C29-1357-EBA8-C1BB6262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756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17A72E-7D78-41F2-6396-F83CB2AB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06CA5B-6CC6-AC26-5FAC-441832F8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42F4A9-1820-5601-33A7-00C42B0F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78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F354A-7313-BA5F-FD6C-E786CC6F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C5B316-937C-A453-1CD2-2408B90BA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9492B1-7F9F-083C-EF32-0C38B82BC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5CB50F-8914-5047-0B34-23881BEA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E71B17-9D40-7B5E-03CC-9941BA4A3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E9AED7-1158-93EA-4B76-217F289E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62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E9C04-FF14-58F0-719D-9A83BA73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21851D-CD23-3F79-C253-9D70E506E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05147E-2AEE-7F72-AC56-F2816313C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1B602D-BF70-6843-F14E-8A72950E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5F69B5-D957-19AE-127D-807972892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7ED19E-2BF9-8F20-4583-148D8225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81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A235B-FE0A-31E0-7F07-1BA98385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3D1823-0D90-2752-2FF7-6588908F4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E9E1A-8BEB-F2B6-7A34-0AED87621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F1F563-0740-37B5-E996-50F98E27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6B9EC2-9B8B-010C-469D-DAB555F5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2DEBD3-A547-9992-E426-096F8ECF3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A567EC-E14E-760C-4239-77DB6C0A6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06105-A9A3-C3BF-111C-D218EF71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000E17-884F-5BEC-8DC1-BFCB4F3D0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9F2F3-5C62-4E2C-C9DE-E80208E6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380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675665-94EF-4A45-BA5F-4E4147CE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E9CF5D-6347-80D0-1D0A-007A06CCF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B4ED4-C0AD-3F88-2516-A79E5BD75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4DD04-2AD6-4BA1-86C4-26F0BA46F0F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B65B99-45F4-F738-15C5-61651D63A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C1095E-219D-F37D-5288-BAD8AFA6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A04DC-B104-4122-AD09-F9E7E9230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95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70E9B9B8-18EF-449C-98E3-61DA0B6BC8DA}"/>
              </a:ext>
            </a:extLst>
          </p:cNvPr>
          <p:cNvSpPr txBox="1"/>
          <p:nvPr/>
        </p:nvSpPr>
        <p:spPr>
          <a:xfrm>
            <a:off x="8343911" y="1970459"/>
            <a:ext cx="12352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信号达到中控室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67A5C46-8872-4FFA-91A0-9EAA4F91C6C6}"/>
              </a:ext>
            </a:extLst>
          </p:cNvPr>
          <p:cNvGrpSpPr/>
          <p:nvPr/>
        </p:nvGrpSpPr>
        <p:grpSpPr>
          <a:xfrm>
            <a:off x="2641965" y="1838611"/>
            <a:ext cx="1775085" cy="2377521"/>
            <a:chOff x="3468172" y="1504762"/>
            <a:chExt cx="2515218" cy="3593250"/>
          </a:xfrm>
        </p:grpSpPr>
        <p:pic>
          <p:nvPicPr>
            <p:cNvPr id="11" name="Picture 8">
              <a:extLst>
                <a:ext uri="{FF2B5EF4-FFF2-40B4-BE49-F238E27FC236}">
                  <a16:creationId xmlns:a16="http://schemas.microsoft.com/office/drawing/2014/main" id="{F7E50B3E-2891-4582-9F4F-AC84EA69E1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368" y="3656551"/>
              <a:ext cx="1177022" cy="1177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图形 12" descr="Wi-Fi 轮廓">
              <a:extLst>
                <a:ext uri="{FF2B5EF4-FFF2-40B4-BE49-F238E27FC236}">
                  <a16:creationId xmlns:a16="http://schemas.microsoft.com/office/drawing/2014/main" id="{21F6A14B-A1BA-4346-80ED-85F94C358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3500444" y="1472490"/>
              <a:ext cx="700612" cy="765156"/>
            </a:xfrm>
            <a:prstGeom prst="rect">
              <a:avLst/>
            </a:prstGeom>
          </p:spPr>
        </p:pic>
        <p:pic>
          <p:nvPicPr>
            <p:cNvPr id="90" name="图形 89" descr="Wi-Fi 轮廓">
              <a:extLst>
                <a:ext uri="{FF2B5EF4-FFF2-40B4-BE49-F238E27FC236}">
                  <a16:creationId xmlns:a16="http://schemas.microsoft.com/office/drawing/2014/main" id="{5AF154AF-A3B2-E569-2BAC-6E498A480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3507878" y="4365128"/>
              <a:ext cx="700612" cy="765156"/>
            </a:xfrm>
            <a:prstGeom prst="rect">
              <a:avLst/>
            </a:prstGeom>
          </p:spPr>
        </p:pic>
      </p:grpSp>
      <p:cxnSp>
        <p:nvCxnSpPr>
          <p:cNvPr id="15" name="直线连接符 5">
            <a:extLst>
              <a:ext uri="{FF2B5EF4-FFF2-40B4-BE49-F238E27FC236}">
                <a16:creationId xmlns:a16="http://schemas.microsoft.com/office/drawing/2014/main" id="{87B0D577-CDE3-42C9-85DC-CC11D81FCC18}"/>
              </a:ext>
            </a:extLst>
          </p:cNvPr>
          <p:cNvCxnSpPr>
            <a:cxnSpLocks/>
          </p:cNvCxnSpPr>
          <p:nvPr/>
        </p:nvCxnSpPr>
        <p:spPr>
          <a:xfrm flipH="1" flipV="1">
            <a:off x="4001715" y="2252979"/>
            <a:ext cx="0" cy="15106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4C7D17E-B5A7-4223-8D24-9C7E123BD783}"/>
              </a:ext>
            </a:extLst>
          </p:cNvPr>
          <p:cNvSpPr txBox="1"/>
          <p:nvPr/>
        </p:nvSpPr>
        <p:spPr>
          <a:xfrm>
            <a:off x="3201323" y="4181596"/>
            <a:ext cx="16720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信号传输至路由器等网络设备（配置在工作现场的）</a:t>
            </a:r>
          </a:p>
        </p:txBody>
      </p:sp>
      <p:cxnSp>
        <p:nvCxnSpPr>
          <p:cNvPr id="19" name="直线连接符 5">
            <a:extLst>
              <a:ext uri="{FF2B5EF4-FFF2-40B4-BE49-F238E27FC236}">
                <a16:creationId xmlns:a16="http://schemas.microsoft.com/office/drawing/2014/main" id="{9047F619-8251-4DEF-987C-C5AEAAC52AC1}"/>
              </a:ext>
            </a:extLst>
          </p:cNvPr>
          <p:cNvCxnSpPr>
            <a:cxnSpLocks/>
          </p:cNvCxnSpPr>
          <p:nvPr/>
        </p:nvCxnSpPr>
        <p:spPr>
          <a:xfrm>
            <a:off x="4001715" y="2259929"/>
            <a:ext cx="3028338" cy="10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16AE30A9-17CE-4625-93AC-E8EF3FBF6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3347" y="1662943"/>
            <a:ext cx="1250652" cy="103009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627DAD04-62F9-480B-80A0-B90EF6A10902}"/>
              </a:ext>
            </a:extLst>
          </p:cNvPr>
          <p:cNvSpPr txBox="1"/>
          <p:nvPr/>
        </p:nvSpPr>
        <p:spPr>
          <a:xfrm>
            <a:off x="4621139" y="1543631"/>
            <a:ext cx="2204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传输至云端服务器</a:t>
            </a:r>
          </a:p>
        </p:txBody>
      </p:sp>
      <p:cxnSp>
        <p:nvCxnSpPr>
          <p:cNvPr id="22" name="直线连接符 5">
            <a:extLst>
              <a:ext uri="{FF2B5EF4-FFF2-40B4-BE49-F238E27FC236}">
                <a16:creationId xmlns:a16="http://schemas.microsoft.com/office/drawing/2014/main" id="{C4788FC4-3BC2-4012-A3C7-8A09094B5C0F}"/>
              </a:ext>
            </a:extLst>
          </p:cNvPr>
          <p:cNvCxnSpPr>
            <a:cxnSpLocks/>
          </p:cNvCxnSpPr>
          <p:nvPr/>
        </p:nvCxnSpPr>
        <p:spPr>
          <a:xfrm flipV="1">
            <a:off x="8262301" y="2304692"/>
            <a:ext cx="2244566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5">
            <a:extLst>
              <a:ext uri="{FF2B5EF4-FFF2-40B4-BE49-F238E27FC236}">
                <a16:creationId xmlns:a16="http://schemas.microsoft.com/office/drawing/2014/main" id="{64607078-E396-4721-A3DF-FF2657A24D6A}"/>
              </a:ext>
            </a:extLst>
          </p:cNvPr>
          <p:cNvCxnSpPr>
            <a:cxnSpLocks/>
          </p:cNvCxnSpPr>
          <p:nvPr/>
        </p:nvCxnSpPr>
        <p:spPr>
          <a:xfrm flipV="1">
            <a:off x="10506867" y="2304692"/>
            <a:ext cx="0" cy="9798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9FB36FA-CC1F-4ABA-8262-90AB19FEAB5D}"/>
              </a:ext>
            </a:extLst>
          </p:cNvPr>
          <p:cNvSpPr txBox="1"/>
          <p:nvPr/>
        </p:nvSpPr>
        <p:spPr>
          <a:xfrm>
            <a:off x="6037338" y="3587654"/>
            <a:ext cx="22445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各项指标参数跟踪与计算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B483D8BA-6C2D-4637-BA92-437D07092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6291563" y="3921912"/>
            <a:ext cx="2061186" cy="53745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6219358-2483-4140-BDC7-6B7711692D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474612" y="4576318"/>
            <a:ext cx="555441" cy="53745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86FBE05-A484-4573-8828-7B4FCDA784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4206" y="4527666"/>
            <a:ext cx="754040" cy="688767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3D2DBF5B-D560-44A0-BA86-424848C9AD26}"/>
              </a:ext>
            </a:extLst>
          </p:cNvPr>
          <p:cNvSpPr txBox="1"/>
          <p:nvPr/>
        </p:nvSpPr>
        <p:spPr>
          <a:xfrm>
            <a:off x="6026291" y="3284515"/>
            <a:ext cx="16723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模型</a:t>
            </a:r>
            <a:r>
              <a:rPr lang="en-US" altLang="zh-CN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核心算法</a:t>
            </a:r>
            <a:endParaRPr lang="en-US" altLang="zh-CN" sz="10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6BF42367-06F6-4E6B-8BD2-6F3A94772F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4236" y="1377230"/>
            <a:ext cx="817865" cy="1611406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8433143-B2B2-4A4E-97BE-B7844AC0CD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4236" y="3171702"/>
            <a:ext cx="764092" cy="1805594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862DBC5-AE5D-46AB-84D9-16C9FBE15A95}"/>
              </a:ext>
            </a:extLst>
          </p:cNvPr>
          <p:cNvCxnSpPr>
            <a:cxnSpLocks/>
          </p:cNvCxnSpPr>
          <p:nvPr/>
        </p:nvCxnSpPr>
        <p:spPr>
          <a:xfrm flipH="1">
            <a:off x="2432101" y="1377230"/>
            <a:ext cx="5266572" cy="20710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2AA52752-4BA1-4BCE-8CBF-F7339D89E340}"/>
              </a:ext>
            </a:extLst>
          </p:cNvPr>
          <p:cNvSpPr txBox="1"/>
          <p:nvPr/>
        </p:nvSpPr>
        <p:spPr>
          <a:xfrm>
            <a:off x="702074" y="1596686"/>
            <a:ext cx="10884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心率检测</a:t>
            </a:r>
            <a:endParaRPr kumimoji="1" lang="en-US" altLang="zh-CN" sz="105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kumimoji="1"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血氧检测</a:t>
            </a:r>
            <a:endParaRPr kumimoji="1" lang="en-US" altLang="zh-CN" sz="105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kumimoji="1" lang="en-US" altLang="zh-CN" sz="1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kumimoji="1" lang="en-US" altLang="zh-CN" sz="11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FDA5ACE-1342-4EB5-97F9-17580EE2BAAD}"/>
              </a:ext>
            </a:extLst>
          </p:cNvPr>
          <p:cNvSpPr/>
          <p:nvPr/>
        </p:nvSpPr>
        <p:spPr>
          <a:xfrm>
            <a:off x="4440455" y="1080075"/>
            <a:ext cx="331108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在终端实现预警和反馈信息提示</a:t>
            </a:r>
            <a:endParaRPr lang="en-US" altLang="zh-CN" sz="10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E8FA9E4-14C0-4412-B855-8F15B1B1D689}"/>
              </a:ext>
            </a:extLst>
          </p:cNvPr>
          <p:cNvSpPr/>
          <p:nvPr/>
        </p:nvSpPr>
        <p:spPr>
          <a:xfrm>
            <a:off x="88777" y="1091953"/>
            <a:ext cx="4779262" cy="42490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365DCA1-19E3-406F-B224-397AB885FC31}"/>
              </a:ext>
            </a:extLst>
          </p:cNvPr>
          <p:cNvGrpSpPr/>
          <p:nvPr/>
        </p:nvGrpSpPr>
        <p:grpSpPr>
          <a:xfrm>
            <a:off x="9164741" y="3279651"/>
            <a:ext cx="2774830" cy="2175998"/>
            <a:chOff x="9266465" y="3428740"/>
            <a:chExt cx="2774830" cy="2175998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01D5CA43-E088-4EC5-944A-D2A5EB02F8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6465" y="3428740"/>
              <a:ext cx="2774830" cy="2175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F3CAABA3-C73F-4262-BBB3-40F65E31A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754585" y="3530128"/>
              <a:ext cx="1812279" cy="1047978"/>
            </a:xfrm>
            <a:prstGeom prst="rect">
              <a:avLst/>
            </a:prstGeom>
          </p:spPr>
        </p:pic>
      </p:grpSp>
      <p:cxnSp>
        <p:nvCxnSpPr>
          <p:cNvPr id="55" name="直线连接符 5">
            <a:extLst>
              <a:ext uri="{FF2B5EF4-FFF2-40B4-BE49-F238E27FC236}">
                <a16:creationId xmlns:a16="http://schemas.microsoft.com/office/drawing/2014/main" id="{C8C51273-9D84-405D-94EA-5FE2BD55ADEB}"/>
              </a:ext>
            </a:extLst>
          </p:cNvPr>
          <p:cNvCxnSpPr>
            <a:cxnSpLocks/>
          </p:cNvCxnSpPr>
          <p:nvPr/>
        </p:nvCxnSpPr>
        <p:spPr>
          <a:xfrm flipV="1">
            <a:off x="2458496" y="1793779"/>
            <a:ext cx="46148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">
            <a:extLst>
              <a:ext uri="{FF2B5EF4-FFF2-40B4-BE49-F238E27FC236}">
                <a16:creationId xmlns:a16="http://schemas.microsoft.com/office/drawing/2014/main" id="{07D48234-8228-4F37-AF5D-52ADD7766D3E}"/>
              </a:ext>
            </a:extLst>
          </p:cNvPr>
          <p:cNvCxnSpPr>
            <a:cxnSpLocks/>
          </p:cNvCxnSpPr>
          <p:nvPr/>
        </p:nvCxnSpPr>
        <p:spPr>
          <a:xfrm flipV="1">
            <a:off x="2361469" y="3759258"/>
            <a:ext cx="11658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22C17F7F-5018-49EA-BA28-AEF21F450ED4}"/>
              </a:ext>
            </a:extLst>
          </p:cNvPr>
          <p:cNvSpPr txBox="1"/>
          <p:nvPr/>
        </p:nvSpPr>
        <p:spPr>
          <a:xfrm>
            <a:off x="4637409" y="2280122"/>
            <a:ext cx="2204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传输至云端服务器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15B4906-6076-4507-B9E8-196C28ECB25E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698673" y="1377230"/>
            <a:ext cx="0" cy="2857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60A8B3B8-A75D-4654-81BA-31FFB2B89CC5}"/>
              </a:ext>
            </a:extLst>
          </p:cNvPr>
          <p:cNvSpPr/>
          <p:nvPr/>
        </p:nvSpPr>
        <p:spPr>
          <a:xfrm>
            <a:off x="6277498" y="3001520"/>
            <a:ext cx="2172091" cy="23394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39A8EC6-422E-450A-9A02-78A30CC57D21}"/>
              </a:ext>
            </a:extLst>
          </p:cNvPr>
          <p:cNvSpPr/>
          <p:nvPr/>
        </p:nvSpPr>
        <p:spPr>
          <a:xfrm>
            <a:off x="9445704" y="1119743"/>
            <a:ext cx="72327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预警处理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8D64EEB-8E92-4F36-BB35-A63CDEE7DA82}"/>
              </a:ext>
            </a:extLst>
          </p:cNvPr>
          <p:cNvSpPr/>
          <p:nvPr/>
        </p:nvSpPr>
        <p:spPr>
          <a:xfrm>
            <a:off x="6377093" y="2904659"/>
            <a:ext cx="1165680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运算处理层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2A4D4781-84E1-4CDE-BC28-9BC95EF811AC}"/>
              </a:ext>
            </a:extLst>
          </p:cNvPr>
          <p:cNvCxnSpPr>
            <a:cxnSpLocks/>
          </p:cNvCxnSpPr>
          <p:nvPr/>
        </p:nvCxnSpPr>
        <p:spPr>
          <a:xfrm>
            <a:off x="8483231" y="4169420"/>
            <a:ext cx="10615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形 51" descr="Wi-Fi 轮廓">
            <a:extLst>
              <a:ext uri="{FF2B5EF4-FFF2-40B4-BE49-F238E27FC236}">
                <a16:creationId xmlns:a16="http://schemas.microsoft.com/office/drawing/2014/main" id="{E2B6D7F4-2DFF-4998-9D5C-7B1CA7D1B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990043" y="2539380"/>
            <a:ext cx="463568" cy="540000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E7B39535-839C-4E11-9427-C1C28003B8B1}"/>
              </a:ext>
            </a:extLst>
          </p:cNvPr>
          <p:cNvSpPr/>
          <p:nvPr/>
        </p:nvSpPr>
        <p:spPr>
          <a:xfrm>
            <a:off x="346389" y="1361835"/>
            <a:ext cx="1352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智能可穿戴设备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908122-0957-17A5-4C04-383ABFCE4B5A}"/>
              </a:ext>
            </a:extLst>
          </p:cNvPr>
          <p:cNvSpPr/>
          <p:nvPr/>
        </p:nvSpPr>
        <p:spPr>
          <a:xfrm>
            <a:off x="642850" y="2760369"/>
            <a:ext cx="11121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智能</a:t>
            </a:r>
            <a:r>
              <a:rPr lang="zh-CN" altLang="en-US" sz="1050" b="1" dirty="0"/>
              <a:t>手表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770D54-9BCF-FA6F-A374-ABCAEF351CC5}"/>
              </a:ext>
            </a:extLst>
          </p:cNvPr>
          <p:cNvSpPr/>
          <p:nvPr/>
        </p:nvSpPr>
        <p:spPr>
          <a:xfrm>
            <a:off x="679759" y="4714238"/>
            <a:ext cx="111210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IMU</a:t>
            </a:r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传感器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DB761B-6D34-BF5B-3D81-DCB1AC82DCFE}"/>
              </a:ext>
            </a:extLst>
          </p:cNvPr>
          <p:cNvSpPr txBox="1"/>
          <p:nvPr/>
        </p:nvSpPr>
        <p:spPr>
          <a:xfrm>
            <a:off x="2492661" y="2280122"/>
            <a:ext cx="8908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4G</a:t>
            </a:r>
            <a:endParaRPr lang="zh-CN" altLang="en-US" sz="10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2CD8BD6-7BDE-EEFD-3464-396C0C4746DC}"/>
              </a:ext>
            </a:extLst>
          </p:cNvPr>
          <p:cNvCxnSpPr>
            <a:cxnSpLocks/>
          </p:cNvCxnSpPr>
          <p:nvPr/>
        </p:nvCxnSpPr>
        <p:spPr>
          <a:xfrm>
            <a:off x="8118246" y="2727307"/>
            <a:ext cx="0" cy="220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C20480B-B259-3164-11EB-E29E124081F5}"/>
              </a:ext>
            </a:extLst>
          </p:cNvPr>
          <p:cNvCxnSpPr>
            <a:cxnSpLocks/>
          </p:cNvCxnSpPr>
          <p:nvPr/>
        </p:nvCxnSpPr>
        <p:spPr>
          <a:xfrm flipH="1" flipV="1">
            <a:off x="7918717" y="2726520"/>
            <a:ext cx="1654" cy="2066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8687B47-5E93-E59E-3133-75BA446FD6DE}"/>
              </a:ext>
            </a:extLst>
          </p:cNvPr>
          <p:cNvSpPr txBox="1"/>
          <p:nvPr/>
        </p:nvSpPr>
        <p:spPr>
          <a:xfrm>
            <a:off x="447221" y="-35781"/>
            <a:ext cx="1273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系统设计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527CCA9-C1F6-BC22-2F6F-F5CCBD0FD9A0}"/>
              </a:ext>
            </a:extLst>
          </p:cNvPr>
          <p:cNvSpPr txBox="1"/>
          <p:nvPr/>
        </p:nvSpPr>
        <p:spPr>
          <a:xfrm>
            <a:off x="2492661" y="4169247"/>
            <a:ext cx="8908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latin typeface="Times New Roman" panose="02020603050405020304" pitchFamily="18" charset="0"/>
                <a:ea typeface="宋体" panose="02010600030101010101" pitchFamily="2" charset="-122"/>
              </a:rPr>
              <a:t>WIFI</a:t>
            </a:r>
            <a:endParaRPr lang="zh-CN" altLang="en-US" sz="10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F5764F60-150F-1030-8932-3AA470F1858D}"/>
              </a:ext>
            </a:extLst>
          </p:cNvPr>
          <p:cNvCxnSpPr/>
          <p:nvPr/>
        </p:nvCxnSpPr>
        <p:spPr>
          <a:xfrm flipV="1">
            <a:off x="10953345" y="1387585"/>
            <a:ext cx="0" cy="18969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A363329C-62A1-6019-8E1C-DD7D77609532}"/>
              </a:ext>
            </a:extLst>
          </p:cNvPr>
          <p:cNvCxnSpPr>
            <a:cxnSpLocks/>
          </p:cNvCxnSpPr>
          <p:nvPr/>
        </p:nvCxnSpPr>
        <p:spPr>
          <a:xfrm flipH="1">
            <a:off x="8118246" y="1387585"/>
            <a:ext cx="283509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C1AF7711-A77C-9EF9-4B94-695E3EA4281C}"/>
              </a:ext>
            </a:extLst>
          </p:cNvPr>
          <p:cNvCxnSpPr>
            <a:cxnSpLocks/>
          </p:cNvCxnSpPr>
          <p:nvPr/>
        </p:nvCxnSpPr>
        <p:spPr>
          <a:xfrm>
            <a:off x="8125954" y="1387585"/>
            <a:ext cx="0" cy="3007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41387206-554F-7A0A-BEA7-6B372DB604FC}"/>
              </a:ext>
            </a:extLst>
          </p:cNvPr>
          <p:cNvSpPr/>
          <p:nvPr/>
        </p:nvSpPr>
        <p:spPr>
          <a:xfrm>
            <a:off x="447221" y="949895"/>
            <a:ext cx="1165680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数据采集层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F4797AF-70CF-2748-7C0B-F5C80A8D6C45}"/>
              </a:ext>
            </a:extLst>
          </p:cNvPr>
          <p:cNvSpPr/>
          <p:nvPr/>
        </p:nvSpPr>
        <p:spPr>
          <a:xfrm>
            <a:off x="8909602" y="2883479"/>
            <a:ext cx="1165680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实时管理层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67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CF24-2020-4EA0-F9E4-0D4F12B0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F8682B4-4FDE-3B9B-5A04-DBC29D6A09B4}"/>
              </a:ext>
            </a:extLst>
          </p:cNvPr>
          <p:cNvSpPr txBox="1"/>
          <p:nvPr/>
        </p:nvSpPr>
        <p:spPr>
          <a:xfrm>
            <a:off x="8343911" y="1970459"/>
            <a:ext cx="12352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信号达到中控室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8FC1CC3-1295-E3C2-534E-0B56431A001E}"/>
              </a:ext>
            </a:extLst>
          </p:cNvPr>
          <p:cNvGrpSpPr/>
          <p:nvPr/>
        </p:nvGrpSpPr>
        <p:grpSpPr>
          <a:xfrm>
            <a:off x="2641965" y="1838611"/>
            <a:ext cx="1775085" cy="2377521"/>
            <a:chOff x="3468172" y="1504762"/>
            <a:chExt cx="2515218" cy="3593250"/>
          </a:xfrm>
        </p:grpSpPr>
        <p:pic>
          <p:nvPicPr>
            <p:cNvPr id="11" name="Picture 8">
              <a:extLst>
                <a:ext uri="{FF2B5EF4-FFF2-40B4-BE49-F238E27FC236}">
                  <a16:creationId xmlns:a16="http://schemas.microsoft.com/office/drawing/2014/main" id="{0E81093D-47AD-2001-8A9F-A35DF5BA7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368" y="3656551"/>
              <a:ext cx="1177022" cy="1177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图形 12" descr="Wi-Fi 轮廓">
              <a:extLst>
                <a:ext uri="{FF2B5EF4-FFF2-40B4-BE49-F238E27FC236}">
                  <a16:creationId xmlns:a16="http://schemas.microsoft.com/office/drawing/2014/main" id="{D44DA469-07A4-3D06-38E4-A32C2FAE3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3500444" y="1472490"/>
              <a:ext cx="700612" cy="765156"/>
            </a:xfrm>
            <a:prstGeom prst="rect">
              <a:avLst/>
            </a:prstGeom>
          </p:spPr>
        </p:pic>
        <p:pic>
          <p:nvPicPr>
            <p:cNvPr id="90" name="图形 89" descr="Wi-Fi 轮廓">
              <a:extLst>
                <a:ext uri="{FF2B5EF4-FFF2-40B4-BE49-F238E27FC236}">
                  <a16:creationId xmlns:a16="http://schemas.microsoft.com/office/drawing/2014/main" id="{81C40ED3-B8AA-A362-47AF-3B73F4474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3507878" y="4365128"/>
              <a:ext cx="700612" cy="765156"/>
            </a:xfrm>
            <a:prstGeom prst="rect">
              <a:avLst/>
            </a:prstGeom>
          </p:spPr>
        </p:pic>
      </p:grpSp>
      <p:cxnSp>
        <p:nvCxnSpPr>
          <p:cNvPr id="15" name="直线连接符 5">
            <a:extLst>
              <a:ext uri="{FF2B5EF4-FFF2-40B4-BE49-F238E27FC236}">
                <a16:creationId xmlns:a16="http://schemas.microsoft.com/office/drawing/2014/main" id="{A7FAB383-8054-3285-613B-5A2F7A467313}"/>
              </a:ext>
            </a:extLst>
          </p:cNvPr>
          <p:cNvCxnSpPr>
            <a:cxnSpLocks/>
          </p:cNvCxnSpPr>
          <p:nvPr/>
        </p:nvCxnSpPr>
        <p:spPr>
          <a:xfrm flipH="1" flipV="1">
            <a:off x="4001715" y="2252979"/>
            <a:ext cx="0" cy="15106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D160D81-04C2-374B-DADF-5BBD4FC12173}"/>
              </a:ext>
            </a:extLst>
          </p:cNvPr>
          <p:cNvSpPr txBox="1"/>
          <p:nvPr/>
        </p:nvSpPr>
        <p:spPr>
          <a:xfrm>
            <a:off x="3201323" y="4181596"/>
            <a:ext cx="16720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信号传输至路由器等网络设备（配置在工作现场的）</a:t>
            </a:r>
          </a:p>
        </p:txBody>
      </p:sp>
      <p:cxnSp>
        <p:nvCxnSpPr>
          <p:cNvPr id="19" name="直线连接符 5">
            <a:extLst>
              <a:ext uri="{FF2B5EF4-FFF2-40B4-BE49-F238E27FC236}">
                <a16:creationId xmlns:a16="http://schemas.microsoft.com/office/drawing/2014/main" id="{94F4F08B-7026-3F0B-53C0-AC29F6590018}"/>
              </a:ext>
            </a:extLst>
          </p:cNvPr>
          <p:cNvCxnSpPr>
            <a:cxnSpLocks/>
          </p:cNvCxnSpPr>
          <p:nvPr/>
        </p:nvCxnSpPr>
        <p:spPr>
          <a:xfrm>
            <a:off x="4001715" y="2259929"/>
            <a:ext cx="3028338" cy="10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806E167F-32E6-7DAE-A943-F61AB6AA32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3347" y="1662943"/>
            <a:ext cx="1250652" cy="103009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8FE03AD-BD16-460B-3A70-A611511521B9}"/>
              </a:ext>
            </a:extLst>
          </p:cNvPr>
          <p:cNvSpPr txBox="1"/>
          <p:nvPr/>
        </p:nvSpPr>
        <p:spPr>
          <a:xfrm>
            <a:off x="4621139" y="1543631"/>
            <a:ext cx="2204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传输至云端服务器</a:t>
            </a:r>
          </a:p>
        </p:txBody>
      </p:sp>
      <p:cxnSp>
        <p:nvCxnSpPr>
          <p:cNvPr id="22" name="直线连接符 5">
            <a:extLst>
              <a:ext uri="{FF2B5EF4-FFF2-40B4-BE49-F238E27FC236}">
                <a16:creationId xmlns:a16="http://schemas.microsoft.com/office/drawing/2014/main" id="{1FA6563A-8C68-55BD-A2AB-BC1B61C16B5C}"/>
              </a:ext>
            </a:extLst>
          </p:cNvPr>
          <p:cNvCxnSpPr>
            <a:cxnSpLocks/>
          </p:cNvCxnSpPr>
          <p:nvPr/>
        </p:nvCxnSpPr>
        <p:spPr>
          <a:xfrm flipV="1">
            <a:off x="8262301" y="2304692"/>
            <a:ext cx="2244566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5">
            <a:extLst>
              <a:ext uri="{FF2B5EF4-FFF2-40B4-BE49-F238E27FC236}">
                <a16:creationId xmlns:a16="http://schemas.microsoft.com/office/drawing/2014/main" id="{C9672A29-D996-5E44-4484-8013F07E51A0}"/>
              </a:ext>
            </a:extLst>
          </p:cNvPr>
          <p:cNvCxnSpPr>
            <a:cxnSpLocks/>
          </p:cNvCxnSpPr>
          <p:nvPr/>
        </p:nvCxnSpPr>
        <p:spPr>
          <a:xfrm flipV="1">
            <a:off x="10506867" y="2304692"/>
            <a:ext cx="0" cy="9798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71981D8-2579-09E9-D88C-587A7F4FEEB9}"/>
              </a:ext>
            </a:extLst>
          </p:cNvPr>
          <p:cNvSpPr txBox="1"/>
          <p:nvPr/>
        </p:nvSpPr>
        <p:spPr>
          <a:xfrm>
            <a:off x="6037338" y="3587654"/>
            <a:ext cx="22445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各项指标参数跟踪与计算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BD85ACFE-8B38-F991-AF26-EBE8F416D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6291563" y="3921912"/>
            <a:ext cx="2061186" cy="53745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662B86D1-AE04-7F6E-4936-0B0B2473ED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474612" y="4576318"/>
            <a:ext cx="555441" cy="53745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5C08CFA1-D2C9-23B8-075F-8FF23410B1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4206" y="4527666"/>
            <a:ext cx="754040" cy="688767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C7506764-B7FC-4B2D-248E-DFD3FB5F24BD}"/>
              </a:ext>
            </a:extLst>
          </p:cNvPr>
          <p:cNvSpPr txBox="1"/>
          <p:nvPr/>
        </p:nvSpPr>
        <p:spPr>
          <a:xfrm>
            <a:off x="6026291" y="3284515"/>
            <a:ext cx="16723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模型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核心算法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774A10F1-7A5D-A0AE-5C3C-FE4BCE556E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4236" y="1377230"/>
            <a:ext cx="817865" cy="1611406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59D7900-54E0-8D38-8AF8-CFD4ABC874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4236" y="3171702"/>
            <a:ext cx="764092" cy="1805594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2BC0D42-A6C5-F927-F854-35D36BCE9F49}"/>
              </a:ext>
            </a:extLst>
          </p:cNvPr>
          <p:cNvCxnSpPr>
            <a:cxnSpLocks/>
          </p:cNvCxnSpPr>
          <p:nvPr/>
        </p:nvCxnSpPr>
        <p:spPr>
          <a:xfrm flipH="1">
            <a:off x="2432101" y="1377230"/>
            <a:ext cx="5266572" cy="20710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26B07159-5647-9FD6-4C1B-26E9E9B5977E}"/>
              </a:ext>
            </a:extLst>
          </p:cNvPr>
          <p:cNvSpPr txBox="1"/>
          <p:nvPr/>
        </p:nvSpPr>
        <p:spPr>
          <a:xfrm>
            <a:off x="702074" y="1596686"/>
            <a:ext cx="10884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心率检测</a:t>
            </a:r>
            <a:endParaRPr kumimoji="1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血氧检测</a:t>
            </a:r>
            <a:endParaRPr kumimoji="1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AC872C7-F424-BDB2-F787-8674AFD4A5B0}"/>
              </a:ext>
            </a:extLst>
          </p:cNvPr>
          <p:cNvSpPr/>
          <p:nvPr/>
        </p:nvSpPr>
        <p:spPr>
          <a:xfrm>
            <a:off x="4440455" y="1080075"/>
            <a:ext cx="331108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在终端实现预警和反馈信息提示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1921236-C5CA-2EC4-F7DC-807157C3BE1C}"/>
              </a:ext>
            </a:extLst>
          </p:cNvPr>
          <p:cNvSpPr/>
          <p:nvPr/>
        </p:nvSpPr>
        <p:spPr>
          <a:xfrm>
            <a:off x="88777" y="1091953"/>
            <a:ext cx="4779262" cy="42490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ADD4458-8B0E-815A-48D1-E84BB0768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4741" y="3279651"/>
            <a:ext cx="2774830" cy="217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直线连接符 5">
            <a:extLst>
              <a:ext uri="{FF2B5EF4-FFF2-40B4-BE49-F238E27FC236}">
                <a16:creationId xmlns:a16="http://schemas.microsoft.com/office/drawing/2014/main" id="{E1AB85B8-0600-8059-810C-E5F9F5081BD4}"/>
              </a:ext>
            </a:extLst>
          </p:cNvPr>
          <p:cNvCxnSpPr>
            <a:cxnSpLocks/>
          </p:cNvCxnSpPr>
          <p:nvPr/>
        </p:nvCxnSpPr>
        <p:spPr>
          <a:xfrm flipV="1">
            <a:off x="2458496" y="1793779"/>
            <a:ext cx="46148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">
            <a:extLst>
              <a:ext uri="{FF2B5EF4-FFF2-40B4-BE49-F238E27FC236}">
                <a16:creationId xmlns:a16="http://schemas.microsoft.com/office/drawing/2014/main" id="{E47CD049-3F0A-3816-18BA-67EA8D9DABF3}"/>
              </a:ext>
            </a:extLst>
          </p:cNvPr>
          <p:cNvCxnSpPr>
            <a:cxnSpLocks/>
          </p:cNvCxnSpPr>
          <p:nvPr/>
        </p:nvCxnSpPr>
        <p:spPr>
          <a:xfrm flipV="1">
            <a:off x="2361469" y="3759258"/>
            <a:ext cx="11658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2CAD5880-7ABA-3FE9-CBBA-5DD711119823}"/>
              </a:ext>
            </a:extLst>
          </p:cNvPr>
          <p:cNvSpPr txBox="1"/>
          <p:nvPr/>
        </p:nvSpPr>
        <p:spPr>
          <a:xfrm>
            <a:off x="4637409" y="2280122"/>
            <a:ext cx="2204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传输至云端服务器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95D75C7-DEFC-E2DE-EB2A-C949F47E760F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698673" y="1377230"/>
            <a:ext cx="0" cy="2857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B174EB33-90A1-ECB1-BE9F-A8A5595E5FAB}"/>
              </a:ext>
            </a:extLst>
          </p:cNvPr>
          <p:cNvSpPr/>
          <p:nvPr/>
        </p:nvSpPr>
        <p:spPr>
          <a:xfrm>
            <a:off x="6277498" y="3001520"/>
            <a:ext cx="2172091" cy="23394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4C0F077-B32D-C984-EE00-C64ECAEF3D37}"/>
              </a:ext>
            </a:extLst>
          </p:cNvPr>
          <p:cNvSpPr/>
          <p:nvPr/>
        </p:nvSpPr>
        <p:spPr>
          <a:xfrm>
            <a:off x="9445704" y="1119743"/>
            <a:ext cx="72327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预警处理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9ABF60E-0F3B-2993-DE3B-2E5FA50D0518}"/>
              </a:ext>
            </a:extLst>
          </p:cNvPr>
          <p:cNvSpPr/>
          <p:nvPr/>
        </p:nvSpPr>
        <p:spPr>
          <a:xfrm>
            <a:off x="6377093" y="2904659"/>
            <a:ext cx="1165680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运算处理层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1EB1AEAC-061C-B7F9-5E81-219E15DAD430}"/>
              </a:ext>
            </a:extLst>
          </p:cNvPr>
          <p:cNvCxnSpPr>
            <a:cxnSpLocks/>
          </p:cNvCxnSpPr>
          <p:nvPr/>
        </p:nvCxnSpPr>
        <p:spPr>
          <a:xfrm>
            <a:off x="8483231" y="4169420"/>
            <a:ext cx="10615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形 51" descr="Wi-Fi 轮廓">
            <a:extLst>
              <a:ext uri="{FF2B5EF4-FFF2-40B4-BE49-F238E27FC236}">
                <a16:creationId xmlns:a16="http://schemas.microsoft.com/office/drawing/2014/main" id="{FCE18406-61C4-0A2F-6175-A63781F23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990043" y="2539380"/>
            <a:ext cx="463568" cy="540000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15B439EB-EF40-478D-94EF-77F089453564}"/>
              </a:ext>
            </a:extLst>
          </p:cNvPr>
          <p:cNvSpPr/>
          <p:nvPr/>
        </p:nvSpPr>
        <p:spPr>
          <a:xfrm>
            <a:off x="346389" y="1361835"/>
            <a:ext cx="1352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智能可穿戴设备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3504C8-DF35-7A04-5D94-7F886720433D}"/>
              </a:ext>
            </a:extLst>
          </p:cNvPr>
          <p:cNvSpPr/>
          <p:nvPr/>
        </p:nvSpPr>
        <p:spPr>
          <a:xfrm>
            <a:off x="642850" y="2760369"/>
            <a:ext cx="11121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智能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手表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9D270C-4188-8E57-8449-3782E94DBABD}"/>
              </a:ext>
            </a:extLst>
          </p:cNvPr>
          <p:cNvSpPr/>
          <p:nvPr/>
        </p:nvSpPr>
        <p:spPr>
          <a:xfrm>
            <a:off x="679759" y="4714238"/>
            <a:ext cx="111210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IMU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传感器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860940-74C7-ACC7-F52B-DBB2B288CE53}"/>
              </a:ext>
            </a:extLst>
          </p:cNvPr>
          <p:cNvSpPr txBox="1"/>
          <p:nvPr/>
        </p:nvSpPr>
        <p:spPr>
          <a:xfrm>
            <a:off x="2492661" y="2280122"/>
            <a:ext cx="8908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4G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7C74ED7-5447-CBD1-5577-AF8029C9AFE2}"/>
              </a:ext>
            </a:extLst>
          </p:cNvPr>
          <p:cNvCxnSpPr>
            <a:cxnSpLocks/>
          </p:cNvCxnSpPr>
          <p:nvPr/>
        </p:nvCxnSpPr>
        <p:spPr>
          <a:xfrm>
            <a:off x="8118246" y="2727307"/>
            <a:ext cx="0" cy="220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EBC959B-DD59-CC00-7CAA-8EC17A4E07BD}"/>
              </a:ext>
            </a:extLst>
          </p:cNvPr>
          <p:cNvCxnSpPr>
            <a:cxnSpLocks/>
          </p:cNvCxnSpPr>
          <p:nvPr/>
        </p:nvCxnSpPr>
        <p:spPr>
          <a:xfrm flipH="1" flipV="1">
            <a:off x="7918717" y="2726520"/>
            <a:ext cx="1654" cy="2066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BAE05FF-1C50-70F5-375D-56A6AA81041D}"/>
              </a:ext>
            </a:extLst>
          </p:cNvPr>
          <p:cNvSpPr txBox="1"/>
          <p:nvPr/>
        </p:nvSpPr>
        <p:spPr>
          <a:xfrm>
            <a:off x="447221" y="-35781"/>
            <a:ext cx="1273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系统设计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7410265-8369-1D41-B18F-D64FB3756137}"/>
              </a:ext>
            </a:extLst>
          </p:cNvPr>
          <p:cNvSpPr txBox="1"/>
          <p:nvPr/>
        </p:nvSpPr>
        <p:spPr>
          <a:xfrm>
            <a:off x="2492661" y="4169247"/>
            <a:ext cx="8908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WIFI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A3067CBA-F449-E7F7-DB1C-505FF85FF3C5}"/>
              </a:ext>
            </a:extLst>
          </p:cNvPr>
          <p:cNvCxnSpPr/>
          <p:nvPr/>
        </p:nvCxnSpPr>
        <p:spPr>
          <a:xfrm flipV="1">
            <a:off x="10953345" y="1387585"/>
            <a:ext cx="0" cy="18969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3806D4F3-D2FA-F174-F2B1-B884C352BE90}"/>
              </a:ext>
            </a:extLst>
          </p:cNvPr>
          <p:cNvCxnSpPr>
            <a:cxnSpLocks/>
          </p:cNvCxnSpPr>
          <p:nvPr/>
        </p:nvCxnSpPr>
        <p:spPr>
          <a:xfrm flipH="1">
            <a:off x="8118246" y="1387585"/>
            <a:ext cx="283509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7B2B85C8-6868-2F20-60EB-821C953880FA}"/>
              </a:ext>
            </a:extLst>
          </p:cNvPr>
          <p:cNvCxnSpPr>
            <a:cxnSpLocks/>
          </p:cNvCxnSpPr>
          <p:nvPr/>
        </p:nvCxnSpPr>
        <p:spPr>
          <a:xfrm>
            <a:off x="8125954" y="1387585"/>
            <a:ext cx="0" cy="3007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A08E70A8-370D-0956-6F7B-12DE4D62E4AB}"/>
              </a:ext>
            </a:extLst>
          </p:cNvPr>
          <p:cNvSpPr/>
          <p:nvPr/>
        </p:nvSpPr>
        <p:spPr>
          <a:xfrm>
            <a:off x="447221" y="949895"/>
            <a:ext cx="1165680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数据采集层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D6F1A2B-AF4E-E0F4-5808-84EFB453AA72}"/>
              </a:ext>
            </a:extLst>
          </p:cNvPr>
          <p:cNvSpPr/>
          <p:nvPr/>
        </p:nvSpPr>
        <p:spPr>
          <a:xfrm>
            <a:off x="8909602" y="2883479"/>
            <a:ext cx="1165680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实时管理层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90A384-F96E-F030-6FEA-10E99E3583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430" y="3364256"/>
            <a:ext cx="1927768" cy="111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36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142</Words>
  <Application>Microsoft Office PowerPoint</Application>
  <PresentationFormat>宽屏</PresentationFormat>
  <Paragraphs>38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HanHan</dc:creator>
  <cp:lastModifiedBy>HanHan</cp:lastModifiedBy>
  <cp:revision>11</cp:revision>
  <dcterms:created xsi:type="dcterms:W3CDTF">2025-12-18T06:37:02Z</dcterms:created>
  <dcterms:modified xsi:type="dcterms:W3CDTF">2025-12-25T04:59:01Z</dcterms:modified>
</cp:coreProperties>
</file>